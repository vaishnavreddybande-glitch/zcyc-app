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convention is wrong, the error hides inside the curve and looks like a methodology difference. That is why each one was tested against a number FBIL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 the assignment asks for. The next slides show what it produces and how it compares with FBIL.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FBIL's curve misses its traded inputs by 9.2 paise but its proxy inputs by only 2.9 paise.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Penalising curvature is the standard remedy named by Pienaar and Choudhry, whose spline FBIL uses. Be clear that the two parameters were tuned against FBIL on August data; tune_and_checks.py reproduces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RBI guidelines name Government of India securities. FBIL's SDL methodology says the SDL curve exists partly to allow SDL stripping, so we apply the guidelines by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factor above 1 means the curve values the cash flows below the bond's market price, so its rates are too high for this bond. The bond's own price implies about 18.5 bp over G-Secs, far below the 50 bp SDL spread at 14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calls the same functions as the submitted scripts, so its numbers match the deck: entering the 11 Sep files as a new date gives 6.38 bp for the exact fit and 1.75 bp for the smoothed fit, and STRIPS factor 0.97963 for the 2058 SDL. Without FBIL's ZCYC file the app still gives our curve, par curve and STRIPS, just without the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1463040"/>
            <a:ext cx="7315200" cy="173736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Zero Coupon Yield Curve</a:t>
            </a:r>
            <a:endParaRPr lang="en-US" sz="4200" dirty="0"/>
          </a:p>
          <a:p>
            <a:pPr indent="0" marL="0">
              <a:buNone/>
            </a:pPr>
            <a:r>
              <a:rPr lang="en-US" sz="4200" b="1" dirty="0">
                <a:solidFill>
                  <a:srgbClr val="FFFFFF"/>
                </a:solidFill>
                <a:latin typeface="Cambria" pitchFamily="34" charset="0"/>
                <a:ea typeface="Cambria" pitchFamily="34" charset="-122"/>
                <a:cs typeface="Cambria" pitchFamily="34" charset="-120"/>
              </a:rPr>
              <a:t>for Indian G-Secs</a:t>
            </a:r>
            <a:endParaRPr lang="en-US" sz="4200" dirty="0"/>
          </a:p>
        </p:txBody>
      </p:sp>
      <p:sp>
        <p:nvSpPr>
          <p:cNvPr id="3" name="Text 1"/>
          <p:cNvSpPr txBox="1"/>
          <p:nvPr/>
        </p:nvSpPr>
        <p:spPr>
          <a:xfrm>
            <a:off x="548640" y="3337560"/>
            <a:ext cx="6949440" cy="914400"/>
          </a:xfrm>
          <a:prstGeom prst="rect">
            <a:avLst/>
          </a:prstGeom>
          <a:noFill/>
          <a:ln/>
        </p:spPr>
        <p:txBody>
          <a:bodyPr wrap="square" lIns="0" tIns="0" rIns="0" bIns="0" rtlCol="0" anchor="ctr"/>
          <a:lstStyle/>
          <a:p>
            <a:pPr indent="0" marL="0">
              <a:buNone/>
            </a:pPr>
            <a:r>
              <a:rPr lang="en-US" sz="1700" dirty="0">
                <a:solidFill>
                  <a:srgbClr val="BFDDE1"/>
                </a:solidFill>
                <a:latin typeface="Calibri" pitchFamily="34" charset="0"/>
                <a:ea typeface="Calibri" pitchFamily="34" charset="-122"/>
                <a:cs typeface="Calibri" pitchFamily="34" charset="-120"/>
              </a:rPr>
              <a:t>Cubic-spline bootstrap from FBIL data, comparison with FBIL's published curve, and STRIPS pricing for a 2058 SDL</a:t>
            </a:r>
            <a:endParaRPr lang="en-US" sz="1700" dirty="0"/>
          </a:p>
        </p:txBody>
      </p:sp>
      <p:sp>
        <p:nvSpPr>
          <p:cNvPr id="4" name="Text 2"/>
          <p:cNvSpPr txBox="1"/>
          <p:nvPr/>
        </p:nvSpPr>
        <p:spPr>
          <a:xfrm>
            <a:off x="548640" y="5394960"/>
            <a:ext cx="7315200" cy="365760"/>
          </a:xfrm>
          <a:prstGeom prst="rect">
            <a:avLst/>
          </a:prstGeom>
          <a:noFill/>
          <a:ln/>
        </p:spPr>
        <p:txBody>
          <a:bodyPr wrap="square" lIns="0" tIns="0" rIns="0" bIns="0" rtlCol="0" anchor="ctr"/>
          <a:lstStyle/>
          <a:p>
            <a:pPr indent="0" marL="0">
              <a:buNone/>
            </a:pPr>
            <a:r>
              <a:rPr lang="en-US" sz="1500" dirty="0">
                <a:solidFill>
                  <a:srgbClr val="BFDDE1"/>
                </a:solidFill>
                <a:latin typeface="Calibri" pitchFamily="34" charset="0"/>
                <a:ea typeface="Calibri" pitchFamily="34" charset="-122"/>
                <a:cs typeface="Calibri" pitchFamily="34" charset="-120"/>
              </a:rPr>
              <a:t>Vaishnavreddy Bande · Yashas · Shubham · Aastha · Mansoor</a:t>
            </a:r>
            <a:endParaRPr lang="en-US" sz="1500" dirty="0"/>
          </a:p>
        </p:txBody>
      </p:sp>
      <p:sp>
        <p:nvSpPr>
          <p:cNvPr id="5" name="Text 3"/>
          <p:cNvSpPr txBox="1"/>
          <p:nvPr/>
        </p:nvSpPr>
        <p:spPr>
          <a:xfrm>
            <a:off x="548640" y="5852160"/>
            <a:ext cx="7315200" cy="365760"/>
          </a:xfrm>
          <a:prstGeom prst="rect">
            <a:avLst/>
          </a:prstGeom>
          <a:noFill/>
          <a:ln/>
        </p:spPr>
        <p:txBody>
          <a:bodyPr wrap="square" lIns="0" tIns="0" rIns="0" bIns="0" rtlCol="0" anchor="ctr"/>
          <a:lstStyle/>
          <a:p>
            <a:pPr indent="0" marL="0">
              <a:buNone/>
            </a:pPr>
            <a:r>
              <a:rPr lang="en-US" sz="1300" dirty="0">
                <a:solidFill>
                  <a:srgbClr val="8FB8BE"/>
                </a:solidFill>
                <a:latin typeface="Calibri" pitchFamily="34" charset="0"/>
                <a:ea typeface="Calibri" pitchFamily="34" charset="-122"/>
                <a:cs typeface="Calibri" pitchFamily="34" charset="-120"/>
              </a:rPr>
              <a:t>Mini Project 1  |  FBIL data for 5, 14, 21, 28 August and 11 September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How the presentation is organised</a:t>
            </a:r>
            <a:endParaRPr lang="en-US" sz="2800" dirty="0"/>
          </a:p>
        </p:txBody>
      </p:sp>
      <p:sp>
        <p:nvSpPr>
          <p:cNvPr id="3" name="Shape 1"/>
          <p:cNvSpPr/>
          <p:nvPr/>
        </p:nvSpPr>
        <p:spPr>
          <a:xfrm>
            <a:off x="548640" y="1234440"/>
            <a:ext cx="11094415" cy="896112"/>
          </a:xfrm>
          <a:prstGeom prst="roundRect">
            <a:avLst>
              <a:gd name="adj" fmla="val 8163"/>
            </a:avLst>
          </a:prstGeom>
          <a:solidFill>
            <a:srgbClr val="E6F1F2"/>
          </a:solidFill>
          <a:ln w="12700">
            <a:solidFill>
              <a:srgbClr val="E6F1F2"/>
            </a:solidFill>
            <a:prstDash val="solid"/>
          </a:ln>
        </p:spPr>
      </p:sp>
      <p:sp>
        <p:nvSpPr>
          <p:cNvPr id="4" name="Shape 2"/>
          <p:cNvSpPr/>
          <p:nvPr/>
        </p:nvSpPr>
        <p:spPr>
          <a:xfrm>
            <a:off x="804672" y="1426464"/>
            <a:ext cx="502920" cy="502920"/>
          </a:xfrm>
          <a:prstGeom prst="ellipse">
            <a:avLst/>
          </a:prstGeom>
          <a:solidFill>
            <a:srgbClr val="1B6F7A"/>
          </a:solidFill>
          <a:ln w="12700">
            <a:solidFill>
              <a:srgbClr val="1B6F7A"/>
            </a:solidFill>
            <a:prstDash val="solid"/>
          </a:ln>
        </p:spPr>
      </p:sp>
      <p:sp>
        <p:nvSpPr>
          <p:cNvPr id="5" name="Text 3"/>
          <p:cNvSpPr txBox="1"/>
          <p:nvPr/>
        </p:nvSpPr>
        <p:spPr>
          <a:xfrm>
            <a:off x="804672" y="142646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1508760" y="1389888"/>
            <a:ext cx="5486400" cy="365760"/>
          </a:xfrm>
          <a:prstGeom prst="rect">
            <a:avLst/>
          </a:prstGeom>
          <a:noFill/>
          <a:ln/>
        </p:spPr>
        <p:txBody>
          <a:bodyPr wrap="square" lIns="0" tIns="0" rIns="0" bIns="0" rtlCol="0" anchor="t"/>
          <a:lstStyle/>
          <a:p>
            <a:pPr indent="0" marL="0">
              <a:buNone/>
            </a:pPr>
            <a:r>
              <a:rPr lang="en-US" sz="1700" b="1" dirty="0">
                <a:solidFill>
                  <a:srgbClr val="0F2A33"/>
                </a:solidFill>
                <a:latin typeface="Cambria" pitchFamily="34" charset="0"/>
                <a:ea typeface="Cambria" pitchFamily="34" charset="-122"/>
                <a:cs typeface="Cambria" pitchFamily="34" charset="-120"/>
              </a:rPr>
              <a:t>Data collection</a:t>
            </a:r>
            <a:endParaRPr lang="en-US" sz="1700" dirty="0"/>
          </a:p>
        </p:txBody>
      </p:sp>
      <p:sp>
        <p:nvSpPr>
          <p:cNvPr id="7" name="Text 5"/>
          <p:cNvSpPr txBox="1"/>
          <p:nvPr/>
        </p:nvSpPr>
        <p:spPr>
          <a:xfrm>
            <a:off x="1508760" y="1737360"/>
            <a:ext cx="8046720" cy="365760"/>
          </a:xfrm>
          <a:prstGeom prst="rect">
            <a:avLst/>
          </a:prstGeom>
          <a:noFill/>
          <a:ln/>
        </p:spPr>
        <p:txBody>
          <a:bodyPr wrap="square" lIns="0" tIns="0" rIns="0" bIns="0" rtlCol="0" anchor="t"/>
          <a:lstStyle/>
          <a:p>
            <a:pPr indent="0" marL="0">
              <a:buNone/>
            </a:pPr>
            <a:r>
              <a:rPr lang="en-US" sz="1250" dirty="0">
                <a:solidFill>
                  <a:srgbClr val="55666E"/>
                </a:solidFill>
                <a:latin typeface="Calibri" pitchFamily="34" charset="0"/>
                <a:ea typeface="Calibri" pitchFamily="34" charset="-122"/>
                <a:cs typeface="Calibri" pitchFamily="34" charset="-120"/>
              </a:rPr>
              <a:t>FBIL G-Sec prices and yields, published ZCYC and STRIPS, T-bill rates, SDL data</a:t>
            </a:r>
            <a:endParaRPr lang="en-US" sz="1250" dirty="0"/>
          </a:p>
        </p:txBody>
      </p:sp>
      <p:sp>
        <p:nvSpPr>
          <p:cNvPr id="8" name="Text 6"/>
          <p:cNvSpPr txBox="1"/>
          <p:nvPr/>
        </p:nvSpPr>
        <p:spPr>
          <a:xfrm>
            <a:off x="9997135" y="1508760"/>
            <a:ext cx="1463040" cy="365760"/>
          </a:xfrm>
          <a:prstGeom prst="rect">
            <a:avLst/>
          </a:prstGeom>
          <a:noFill/>
          <a:ln/>
        </p:spPr>
        <p:txBody>
          <a:bodyPr wrap="square" lIns="0" tIns="0" rIns="0" bIns="0" rtlCol="0" anchor="t"/>
          <a:lstStyle/>
          <a:p>
            <a:pPr indent="0" marL="0">
              <a:buNone/>
            </a:pPr>
            <a:r>
              <a:rPr lang="en-US" sz="1300" b="1" dirty="0">
                <a:solidFill>
                  <a:srgbClr val="1B6F7A"/>
                </a:solidFill>
                <a:latin typeface="Calibri" pitchFamily="34" charset="0"/>
                <a:ea typeface="Calibri" pitchFamily="34" charset="-122"/>
                <a:cs typeface="Calibri" pitchFamily="34" charset="-120"/>
              </a:rPr>
              <a:t>Slides 4–5</a:t>
            </a:r>
            <a:endParaRPr lang="en-US" sz="1300" dirty="0"/>
          </a:p>
        </p:txBody>
      </p:sp>
      <p:sp>
        <p:nvSpPr>
          <p:cNvPr id="9" name="Shape 7"/>
          <p:cNvSpPr/>
          <p:nvPr/>
        </p:nvSpPr>
        <p:spPr>
          <a:xfrm>
            <a:off x="548640" y="2258568"/>
            <a:ext cx="11094415" cy="896112"/>
          </a:xfrm>
          <a:prstGeom prst="roundRect">
            <a:avLst>
              <a:gd name="adj" fmla="val 8163"/>
            </a:avLst>
          </a:prstGeom>
          <a:solidFill>
            <a:srgbClr val="F6FAFA"/>
          </a:solidFill>
          <a:ln w="12700">
            <a:solidFill>
              <a:srgbClr val="F6FAFA"/>
            </a:solidFill>
            <a:prstDash val="solid"/>
          </a:ln>
        </p:spPr>
      </p:sp>
      <p:sp>
        <p:nvSpPr>
          <p:cNvPr id="10" name="Shape 8"/>
          <p:cNvSpPr/>
          <p:nvPr/>
        </p:nvSpPr>
        <p:spPr>
          <a:xfrm>
            <a:off x="804672" y="2450592"/>
            <a:ext cx="502920" cy="502920"/>
          </a:xfrm>
          <a:prstGeom prst="ellipse">
            <a:avLst/>
          </a:prstGeom>
          <a:solidFill>
            <a:srgbClr val="1B6F7A"/>
          </a:solidFill>
          <a:ln w="12700">
            <a:solidFill>
              <a:srgbClr val="1B6F7A"/>
            </a:solidFill>
            <a:prstDash val="solid"/>
          </a:ln>
        </p:spPr>
      </p:sp>
      <p:sp>
        <p:nvSpPr>
          <p:cNvPr id="11" name="Text 9"/>
          <p:cNvSpPr txBox="1"/>
          <p:nvPr/>
        </p:nvSpPr>
        <p:spPr>
          <a:xfrm>
            <a:off x="804672" y="245059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a:t>
            </a:r>
            <a:endParaRPr lang="en-US" sz="2000" dirty="0"/>
          </a:p>
        </p:txBody>
      </p:sp>
      <p:sp>
        <p:nvSpPr>
          <p:cNvPr id="12" name="Text 10"/>
          <p:cNvSpPr txBox="1"/>
          <p:nvPr/>
        </p:nvSpPr>
        <p:spPr>
          <a:xfrm>
            <a:off x="1508760" y="2414016"/>
            <a:ext cx="5486400" cy="365760"/>
          </a:xfrm>
          <a:prstGeom prst="rect">
            <a:avLst/>
          </a:prstGeom>
          <a:noFill/>
          <a:ln/>
        </p:spPr>
        <p:txBody>
          <a:bodyPr wrap="square" lIns="0" tIns="0" rIns="0" bIns="0" rtlCol="0" anchor="t"/>
          <a:lstStyle/>
          <a:p>
            <a:pPr indent="0" marL="0">
              <a:buNone/>
            </a:pPr>
            <a:r>
              <a:rPr lang="en-US" sz="1700" b="1" dirty="0">
                <a:solidFill>
                  <a:srgbClr val="0F2A33"/>
                </a:solidFill>
                <a:latin typeface="Cambria" pitchFamily="34" charset="0"/>
                <a:ea typeface="Cambria" pitchFamily="34" charset="-122"/>
                <a:cs typeface="Cambria" pitchFamily="34" charset="-120"/>
              </a:rPr>
              <a:t>Exact-fit bootstrap (Tasks 2 and 3)</a:t>
            </a:r>
            <a:endParaRPr lang="en-US" sz="1700" dirty="0"/>
          </a:p>
        </p:txBody>
      </p:sp>
      <p:sp>
        <p:nvSpPr>
          <p:cNvPr id="13" name="Text 11"/>
          <p:cNvSpPr txBox="1"/>
          <p:nvPr/>
        </p:nvSpPr>
        <p:spPr>
          <a:xfrm>
            <a:off x="1508760" y="2761488"/>
            <a:ext cx="8046720" cy="365760"/>
          </a:xfrm>
          <a:prstGeom prst="rect">
            <a:avLst/>
          </a:prstGeom>
          <a:noFill/>
          <a:ln/>
        </p:spPr>
        <p:txBody>
          <a:bodyPr wrap="square" lIns="0" tIns="0" rIns="0" bIns="0" rtlCol="0" anchor="t"/>
          <a:lstStyle/>
          <a:p>
            <a:pPr indent="0" marL="0">
              <a:buNone/>
            </a:pPr>
            <a:r>
              <a:rPr lang="en-US" sz="1250" dirty="0">
                <a:solidFill>
                  <a:srgbClr val="55666E"/>
                </a:solidFill>
                <a:latin typeface="Calibri" pitchFamily="34" charset="0"/>
                <a:ea typeface="Calibri" pitchFamily="34" charset="-122"/>
                <a:cs typeface="Calibri" pitchFamily="34" charset="-120"/>
              </a:rPr>
              <a:t>Method, output curves, comparison with FBIL, where and why it fails</a:t>
            </a:r>
            <a:endParaRPr lang="en-US" sz="1250" dirty="0"/>
          </a:p>
        </p:txBody>
      </p:sp>
      <p:sp>
        <p:nvSpPr>
          <p:cNvPr id="14" name="Text 12"/>
          <p:cNvSpPr txBox="1"/>
          <p:nvPr/>
        </p:nvSpPr>
        <p:spPr>
          <a:xfrm>
            <a:off x="9997135" y="2532888"/>
            <a:ext cx="1463040" cy="365760"/>
          </a:xfrm>
          <a:prstGeom prst="rect">
            <a:avLst/>
          </a:prstGeom>
          <a:noFill/>
          <a:ln/>
        </p:spPr>
        <p:txBody>
          <a:bodyPr wrap="square" lIns="0" tIns="0" rIns="0" bIns="0" rtlCol="0" anchor="t"/>
          <a:lstStyle/>
          <a:p>
            <a:pPr indent="0" marL="0">
              <a:buNone/>
            </a:pPr>
            <a:r>
              <a:rPr lang="en-US" sz="1300" b="1" dirty="0">
                <a:solidFill>
                  <a:srgbClr val="1B6F7A"/>
                </a:solidFill>
                <a:latin typeface="Calibri" pitchFamily="34" charset="0"/>
                <a:ea typeface="Calibri" pitchFamily="34" charset="-122"/>
                <a:cs typeface="Calibri" pitchFamily="34" charset="-120"/>
              </a:rPr>
              <a:t>Slides 7–13</a:t>
            </a:r>
            <a:endParaRPr lang="en-US" sz="1300" dirty="0"/>
          </a:p>
        </p:txBody>
      </p:sp>
      <p:sp>
        <p:nvSpPr>
          <p:cNvPr id="15" name="Shape 13"/>
          <p:cNvSpPr/>
          <p:nvPr/>
        </p:nvSpPr>
        <p:spPr>
          <a:xfrm>
            <a:off x="548640" y="3282696"/>
            <a:ext cx="11094415" cy="896112"/>
          </a:xfrm>
          <a:prstGeom prst="roundRect">
            <a:avLst>
              <a:gd name="adj" fmla="val 8163"/>
            </a:avLst>
          </a:prstGeom>
          <a:solidFill>
            <a:srgbClr val="E6F1F2"/>
          </a:solidFill>
          <a:ln w="12700">
            <a:solidFill>
              <a:srgbClr val="E6F1F2"/>
            </a:solidFill>
            <a:prstDash val="solid"/>
          </a:ln>
        </p:spPr>
      </p:sp>
      <p:sp>
        <p:nvSpPr>
          <p:cNvPr id="16" name="Shape 14"/>
          <p:cNvSpPr/>
          <p:nvPr/>
        </p:nvSpPr>
        <p:spPr>
          <a:xfrm>
            <a:off x="804672" y="3474720"/>
            <a:ext cx="502920" cy="502920"/>
          </a:xfrm>
          <a:prstGeom prst="ellipse">
            <a:avLst/>
          </a:prstGeom>
          <a:solidFill>
            <a:srgbClr val="1B6F7A"/>
          </a:solidFill>
          <a:ln w="12700">
            <a:solidFill>
              <a:srgbClr val="1B6F7A"/>
            </a:solidFill>
            <a:prstDash val="solid"/>
          </a:ln>
        </p:spPr>
      </p:sp>
      <p:sp>
        <p:nvSpPr>
          <p:cNvPr id="17" name="Text 15"/>
          <p:cNvSpPr txBox="1"/>
          <p:nvPr/>
        </p:nvSpPr>
        <p:spPr>
          <a:xfrm>
            <a:off x="804672" y="34747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a:t>
            </a:r>
            <a:endParaRPr lang="en-US" sz="2000" dirty="0"/>
          </a:p>
        </p:txBody>
      </p:sp>
      <p:sp>
        <p:nvSpPr>
          <p:cNvPr id="18" name="Text 16"/>
          <p:cNvSpPr txBox="1"/>
          <p:nvPr/>
        </p:nvSpPr>
        <p:spPr>
          <a:xfrm>
            <a:off x="1508760" y="3438144"/>
            <a:ext cx="5486400" cy="365760"/>
          </a:xfrm>
          <a:prstGeom prst="rect">
            <a:avLst/>
          </a:prstGeom>
          <a:noFill/>
          <a:ln/>
        </p:spPr>
        <p:txBody>
          <a:bodyPr wrap="square" lIns="0" tIns="0" rIns="0" bIns="0" rtlCol="0" anchor="t"/>
          <a:lstStyle/>
          <a:p>
            <a:pPr indent="0" marL="0">
              <a:buNone/>
            </a:pPr>
            <a:r>
              <a:rPr lang="en-US" sz="1700" b="1" dirty="0">
                <a:solidFill>
                  <a:srgbClr val="0F2A33"/>
                </a:solidFill>
                <a:latin typeface="Cambria" pitchFamily="34" charset="0"/>
                <a:ea typeface="Cambria" pitchFamily="34" charset="-122"/>
                <a:cs typeface="Cambria" pitchFamily="34" charset="-120"/>
              </a:rPr>
              <a:t>Smoothed fit (Tasks 2 and 3)</a:t>
            </a:r>
            <a:endParaRPr lang="en-US" sz="1700" dirty="0"/>
          </a:p>
        </p:txBody>
      </p:sp>
      <p:sp>
        <p:nvSpPr>
          <p:cNvPr id="19" name="Text 17"/>
          <p:cNvSpPr txBox="1"/>
          <p:nvPr/>
        </p:nvSpPr>
        <p:spPr>
          <a:xfrm>
            <a:off x="1508760" y="3785616"/>
            <a:ext cx="8046720" cy="365760"/>
          </a:xfrm>
          <a:prstGeom prst="rect">
            <a:avLst/>
          </a:prstGeom>
          <a:noFill/>
          <a:ln/>
        </p:spPr>
        <p:txBody>
          <a:bodyPr wrap="square" lIns="0" tIns="0" rIns="0" bIns="0" rtlCol="0" anchor="t"/>
          <a:lstStyle/>
          <a:p>
            <a:pPr indent="0" marL="0">
              <a:buNone/>
            </a:pPr>
            <a:r>
              <a:rPr lang="en-US" sz="1250" dirty="0">
                <a:solidFill>
                  <a:srgbClr val="55666E"/>
                </a:solidFill>
                <a:latin typeface="Calibri" pitchFamily="34" charset="0"/>
                <a:ea typeface="Calibri" pitchFamily="34" charset="-122"/>
                <a:cs typeface="Calibri" pitchFamily="34" charset="-120"/>
              </a:rPr>
              <a:t>The same six steps for the submitted curve</a:t>
            </a:r>
            <a:endParaRPr lang="en-US" sz="1250" dirty="0"/>
          </a:p>
        </p:txBody>
      </p:sp>
      <p:sp>
        <p:nvSpPr>
          <p:cNvPr id="20" name="Text 18"/>
          <p:cNvSpPr txBox="1"/>
          <p:nvPr/>
        </p:nvSpPr>
        <p:spPr>
          <a:xfrm>
            <a:off x="9997135" y="3557016"/>
            <a:ext cx="1463040" cy="365760"/>
          </a:xfrm>
          <a:prstGeom prst="rect">
            <a:avLst/>
          </a:prstGeom>
          <a:noFill/>
          <a:ln/>
        </p:spPr>
        <p:txBody>
          <a:bodyPr wrap="square" lIns="0" tIns="0" rIns="0" bIns="0" rtlCol="0" anchor="t"/>
          <a:lstStyle/>
          <a:p>
            <a:pPr indent="0" marL="0">
              <a:buNone/>
            </a:pPr>
            <a:r>
              <a:rPr lang="en-US" sz="1300" b="1" dirty="0">
                <a:solidFill>
                  <a:srgbClr val="1B6F7A"/>
                </a:solidFill>
                <a:latin typeface="Calibri" pitchFamily="34" charset="0"/>
                <a:ea typeface="Calibri" pitchFamily="34" charset="-122"/>
                <a:cs typeface="Calibri" pitchFamily="34" charset="-120"/>
              </a:rPr>
              <a:t>Slides 15–20</a:t>
            </a:r>
            <a:endParaRPr lang="en-US" sz="1300" dirty="0"/>
          </a:p>
        </p:txBody>
      </p:sp>
      <p:sp>
        <p:nvSpPr>
          <p:cNvPr id="21" name="Shape 19"/>
          <p:cNvSpPr/>
          <p:nvPr/>
        </p:nvSpPr>
        <p:spPr>
          <a:xfrm>
            <a:off x="548640" y="4306824"/>
            <a:ext cx="11094415" cy="896112"/>
          </a:xfrm>
          <a:prstGeom prst="roundRect">
            <a:avLst>
              <a:gd name="adj" fmla="val 8163"/>
            </a:avLst>
          </a:prstGeom>
          <a:solidFill>
            <a:srgbClr val="F6FAFA"/>
          </a:solidFill>
          <a:ln w="12700">
            <a:solidFill>
              <a:srgbClr val="F6FAFA"/>
            </a:solidFill>
            <a:prstDash val="solid"/>
          </a:ln>
        </p:spPr>
      </p:sp>
      <p:sp>
        <p:nvSpPr>
          <p:cNvPr id="22" name="Shape 20"/>
          <p:cNvSpPr/>
          <p:nvPr/>
        </p:nvSpPr>
        <p:spPr>
          <a:xfrm>
            <a:off x="804672" y="4498848"/>
            <a:ext cx="502920" cy="502920"/>
          </a:xfrm>
          <a:prstGeom prst="ellipse">
            <a:avLst/>
          </a:prstGeom>
          <a:solidFill>
            <a:srgbClr val="1B6F7A"/>
          </a:solidFill>
          <a:ln w="12700">
            <a:solidFill>
              <a:srgbClr val="1B6F7A"/>
            </a:solidFill>
            <a:prstDash val="solid"/>
          </a:ln>
        </p:spPr>
      </p:sp>
      <p:sp>
        <p:nvSpPr>
          <p:cNvPr id="23" name="Text 21"/>
          <p:cNvSpPr txBox="1"/>
          <p:nvPr/>
        </p:nvSpPr>
        <p:spPr>
          <a:xfrm>
            <a:off x="804672" y="449884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C</a:t>
            </a:r>
            <a:endParaRPr lang="en-US" sz="2000" dirty="0"/>
          </a:p>
        </p:txBody>
      </p:sp>
      <p:sp>
        <p:nvSpPr>
          <p:cNvPr id="24" name="Text 22"/>
          <p:cNvSpPr txBox="1"/>
          <p:nvPr/>
        </p:nvSpPr>
        <p:spPr>
          <a:xfrm>
            <a:off x="1508760" y="4462272"/>
            <a:ext cx="5486400" cy="365760"/>
          </a:xfrm>
          <a:prstGeom prst="rect">
            <a:avLst/>
          </a:prstGeom>
          <a:noFill/>
          <a:ln/>
        </p:spPr>
        <p:txBody>
          <a:bodyPr wrap="square" lIns="0" tIns="0" rIns="0" bIns="0" rtlCol="0" anchor="t"/>
          <a:lstStyle/>
          <a:p>
            <a:pPr indent="0" marL="0">
              <a:buNone/>
            </a:pPr>
            <a:r>
              <a:rPr lang="en-US" sz="1700" b="1" dirty="0">
                <a:solidFill>
                  <a:srgbClr val="0F2A33"/>
                </a:solidFill>
                <a:latin typeface="Cambria" pitchFamily="34" charset="0"/>
                <a:ea typeface="Cambria" pitchFamily="34" charset="-122"/>
                <a:cs typeface="Cambria" pitchFamily="34" charset="-120"/>
              </a:rPr>
              <a:t>Exact or smoothed? (Task 3)</a:t>
            </a:r>
            <a:endParaRPr lang="en-US" sz="1700" dirty="0"/>
          </a:p>
        </p:txBody>
      </p:sp>
      <p:sp>
        <p:nvSpPr>
          <p:cNvPr id="25" name="Text 23"/>
          <p:cNvSpPr txBox="1"/>
          <p:nvPr/>
        </p:nvSpPr>
        <p:spPr>
          <a:xfrm>
            <a:off x="1508760" y="4809744"/>
            <a:ext cx="8046720" cy="365760"/>
          </a:xfrm>
          <a:prstGeom prst="rect">
            <a:avLst/>
          </a:prstGeom>
          <a:noFill/>
          <a:ln/>
        </p:spPr>
        <p:txBody>
          <a:bodyPr wrap="square" lIns="0" tIns="0" rIns="0" bIns="0" rtlCol="0" anchor="t"/>
          <a:lstStyle/>
          <a:p>
            <a:pPr indent="0" marL="0">
              <a:buNone/>
            </a:pPr>
            <a:r>
              <a:rPr lang="en-US" sz="1250" dirty="0">
                <a:solidFill>
                  <a:srgbClr val="55666E"/>
                </a:solidFill>
                <a:latin typeface="Calibri" pitchFamily="34" charset="0"/>
                <a:ea typeface="Calibri" pitchFamily="34" charset="-122"/>
                <a:cs typeface="Calibri" pitchFamily="34" charset="-120"/>
              </a:rPr>
              <a:t>Side-by-side results, a test without FBIL, causes of the remaining gap</a:t>
            </a:r>
            <a:endParaRPr lang="en-US" sz="1250" dirty="0"/>
          </a:p>
        </p:txBody>
      </p:sp>
      <p:sp>
        <p:nvSpPr>
          <p:cNvPr id="26" name="Text 24"/>
          <p:cNvSpPr txBox="1"/>
          <p:nvPr/>
        </p:nvSpPr>
        <p:spPr>
          <a:xfrm>
            <a:off x="9997135" y="4581144"/>
            <a:ext cx="1463040" cy="365760"/>
          </a:xfrm>
          <a:prstGeom prst="rect">
            <a:avLst/>
          </a:prstGeom>
          <a:noFill/>
          <a:ln/>
        </p:spPr>
        <p:txBody>
          <a:bodyPr wrap="square" lIns="0" tIns="0" rIns="0" bIns="0" rtlCol="0" anchor="t"/>
          <a:lstStyle/>
          <a:p>
            <a:pPr indent="0" marL="0">
              <a:buNone/>
            </a:pPr>
            <a:r>
              <a:rPr lang="en-US" sz="1300" b="1" dirty="0">
                <a:solidFill>
                  <a:srgbClr val="1B6F7A"/>
                </a:solidFill>
                <a:latin typeface="Calibri" pitchFamily="34" charset="0"/>
                <a:ea typeface="Calibri" pitchFamily="34" charset="-122"/>
                <a:cs typeface="Calibri" pitchFamily="34" charset="-120"/>
              </a:rPr>
              <a:t>Slides 22–25</a:t>
            </a:r>
            <a:endParaRPr lang="en-US" sz="1300" dirty="0"/>
          </a:p>
        </p:txBody>
      </p:sp>
      <p:sp>
        <p:nvSpPr>
          <p:cNvPr id="27" name="Shape 25"/>
          <p:cNvSpPr/>
          <p:nvPr/>
        </p:nvSpPr>
        <p:spPr>
          <a:xfrm>
            <a:off x="548640" y="5330952"/>
            <a:ext cx="11094415" cy="896112"/>
          </a:xfrm>
          <a:prstGeom prst="roundRect">
            <a:avLst>
              <a:gd name="adj" fmla="val 8163"/>
            </a:avLst>
          </a:prstGeom>
          <a:solidFill>
            <a:srgbClr val="E6F1F2"/>
          </a:solidFill>
          <a:ln w="12700">
            <a:solidFill>
              <a:srgbClr val="E6F1F2"/>
            </a:solidFill>
            <a:prstDash val="solid"/>
          </a:ln>
        </p:spPr>
      </p:sp>
      <p:sp>
        <p:nvSpPr>
          <p:cNvPr id="28" name="Shape 26"/>
          <p:cNvSpPr/>
          <p:nvPr/>
        </p:nvSpPr>
        <p:spPr>
          <a:xfrm>
            <a:off x="804672" y="5522976"/>
            <a:ext cx="502920" cy="502920"/>
          </a:xfrm>
          <a:prstGeom prst="ellipse">
            <a:avLst/>
          </a:prstGeom>
          <a:solidFill>
            <a:srgbClr val="1B6F7A"/>
          </a:solidFill>
          <a:ln w="12700">
            <a:solidFill>
              <a:srgbClr val="1B6F7A"/>
            </a:solidFill>
            <a:prstDash val="solid"/>
          </a:ln>
        </p:spPr>
      </p:sp>
      <p:sp>
        <p:nvSpPr>
          <p:cNvPr id="29" name="Text 27"/>
          <p:cNvSpPr txBox="1"/>
          <p:nvPr/>
        </p:nvSpPr>
        <p:spPr>
          <a:xfrm>
            <a:off x="804672" y="552297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30" name="Text 28"/>
          <p:cNvSpPr txBox="1"/>
          <p:nvPr/>
        </p:nvSpPr>
        <p:spPr>
          <a:xfrm>
            <a:off x="1508760" y="5486400"/>
            <a:ext cx="5486400" cy="365760"/>
          </a:xfrm>
          <a:prstGeom prst="rect">
            <a:avLst/>
          </a:prstGeom>
          <a:noFill/>
          <a:ln/>
        </p:spPr>
        <p:txBody>
          <a:bodyPr wrap="square" lIns="0" tIns="0" rIns="0" bIns="0" rtlCol="0" anchor="t"/>
          <a:lstStyle/>
          <a:p>
            <a:pPr indent="0" marL="0">
              <a:buNone/>
            </a:pPr>
            <a:r>
              <a:rPr lang="en-US" sz="1700" b="1" dirty="0">
                <a:solidFill>
                  <a:srgbClr val="0F2A33"/>
                </a:solidFill>
                <a:latin typeface="Cambria" pitchFamily="34" charset="0"/>
                <a:ea typeface="Cambria" pitchFamily="34" charset="-122"/>
                <a:cs typeface="Cambria" pitchFamily="34" charset="-120"/>
              </a:rPr>
              <a:t>Bonus: pricing STRIPS</a:t>
            </a:r>
            <a:endParaRPr lang="en-US" sz="1700" dirty="0"/>
          </a:p>
        </p:txBody>
      </p:sp>
      <p:sp>
        <p:nvSpPr>
          <p:cNvPr id="31" name="Text 29"/>
          <p:cNvSpPr txBox="1"/>
          <p:nvPr/>
        </p:nvSpPr>
        <p:spPr>
          <a:xfrm>
            <a:off x="1508760" y="5833872"/>
            <a:ext cx="8046720" cy="365760"/>
          </a:xfrm>
          <a:prstGeom prst="rect">
            <a:avLst/>
          </a:prstGeom>
          <a:noFill/>
          <a:ln/>
        </p:spPr>
        <p:txBody>
          <a:bodyPr wrap="square" lIns="0" tIns="0" rIns="0" bIns="0" rtlCol="0" anchor="t"/>
          <a:lstStyle/>
          <a:p>
            <a:pPr indent="0" marL="0">
              <a:buNone/>
            </a:pPr>
            <a:r>
              <a:rPr lang="en-US" sz="1250" dirty="0">
                <a:solidFill>
                  <a:srgbClr val="55666E"/>
                </a:solidFill>
                <a:latin typeface="Calibri" pitchFamily="34" charset="0"/>
                <a:ea typeface="Calibri" pitchFamily="34" charset="-122"/>
                <a:cs typeface="Calibri" pitchFamily="34" charset="-120"/>
              </a:rPr>
              <a:t>07.13 KL SGS 2058 stripped and priced under the RBI guidelines; checks</a:t>
            </a:r>
            <a:endParaRPr lang="en-US" sz="1250" dirty="0"/>
          </a:p>
        </p:txBody>
      </p:sp>
      <p:sp>
        <p:nvSpPr>
          <p:cNvPr id="32" name="Text 30"/>
          <p:cNvSpPr txBox="1"/>
          <p:nvPr/>
        </p:nvSpPr>
        <p:spPr>
          <a:xfrm>
            <a:off x="9997135" y="5605272"/>
            <a:ext cx="1463040" cy="365760"/>
          </a:xfrm>
          <a:prstGeom prst="rect">
            <a:avLst/>
          </a:prstGeom>
          <a:noFill/>
          <a:ln/>
        </p:spPr>
        <p:txBody>
          <a:bodyPr wrap="square" lIns="0" tIns="0" rIns="0" bIns="0" rtlCol="0" anchor="t"/>
          <a:lstStyle/>
          <a:p>
            <a:pPr indent="0" marL="0">
              <a:buNone/>
            </a:pPr>
            <a:r>
              <a:rPr lang="en-US" sz="1300" b="1" dirty="0">
                <a:solidFill>
                  <a:srgbClr val="1B6F7A"/>
                </a:solidFill>
                <a:latin typeface="Calibri" pitchFamily="34" charset="0"/>
                <a:ea typeface="Calibri" pitchFamily="34" charset="-122"/>
                <a:cs typeface="Calibri" pitchFamily="34" charset="-120"/>
              </a:rPr>
              <a:t>Slides 27–30</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2286000"/>
            <a:ext cx="5486400" cy="365760"/>
          </a:xfrm>
          <a:prstGeom prst="rect">
            <a:avLst/>
          </a:prstGeom>
          <a:noFill/>
          <a:ln/>
        </p:spPr>
        <p:txBody>
          <a:bodyPr wrap="square" lIns="0" tIns="0" rIns="0" bIns="0" rtlCol="0" anchor="ctr"/>
          <a:lstStyle/>
          <a:p>
            <a:pPr indent="0" marL="0">
              <a:buNone/>
            </a:pPr>
            <a:r>
              <a:rPr lang="en-US" sz="1500" spc="200" kern="0" dirty="0">
                <a:solidFill>
                  <a:srgbClr val="E8A33D"/>
                </a:solidFill>
                <a:latin typeface="Calibri" pitchFamily="34" charset="0"/>
                <a:ea typeface="Calibri" pitchFamily="34" charset="-122"/>
                <a:cs typeface="Calibri" pitchFamily="34" charset="-120"/>
              </a:rPr>
              <a:t>TASK 1</a:t>
            </a:r>
            <a:endParaRPr lang="en-US" sz="1500" dirty="0"/>
          </a:p>
        </p:txBody>
      </p:sp>
      <p:sp>
        <p:nvSpPr>
          <p:cNvPr id="3" name="Text 1"/>
          <p:cNvSpPr txBox="1"/>
          <p:nvPr/>
        </p:nvSpPr>
        <p:spPr>
          <a:xfrm>
            <a:off x="548640" y="2697480"/>
            <a:ext cx="658368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Data Collection</a:t>
            </a:r>
            <a:endParaRPr lang="en-US" sz="4000" dirty="0"/>
          </a:p>
        </p:txBody>
      </p:sp>
      <p:sp>
        <p:nvSpPr>
          <p:cNvPr id="4" name="Text 2"/>
          <p:cNvSpPr txBox="1"/>
          <p:nvPr/>
        </p:nvSpPr>
        <p:spPr>
          <a:xfrm>
            <a:off x="7223760" y="2377440"/>
            <a:ext cx="4480560" cy="2743200"/>
          </a:xfrm>
          <a:prstGeom prst="rect">
            <a:avLst/>
          </a:prstGeom>
          <a:noFill/>
          <a:ln/>
        </p:spPr>
        <p:txBody>
          <a:bodyPr wrap="square" lIns="0" tIns="0" rIns="0" bIns="0" rtlCol="0" anchor="t"/>
          <a:lstStyle/>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1   Files collected from FBIL</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2   Conventions checked against FBIL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TASK 1  ·  STEP 1</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Files collected from FBIL</a:t>
            </a:r>
            <a:endParaRPr lang="en-US" sz="2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7040880" cy="914400"/>
        </p:xfrm>
        <a:graphic>
          <a:graphicData uri="http://schemas.openxmlformats.org/drawingml/2006/table">
            <a:tbl>
              <a:tblPr/>
              <a:tblGrid>
                <a:gridCol w="2011680"/>
                <a:gridCol w="5029200"/>
              </a:tblGrid>
              <a:tr h="41148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FBIL file (each date)</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we use</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114300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G-Sec prices and yields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119 fixed-coupon G-Secs with coupon, maturity, clean price and YTM. The remark column marks FBIL's input points (26 on 11 Sep: 19 traded, 7 FBIL proxy yields). 5 FRBs excluded.</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91440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ZCYC and STRIPS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FBIL's zero and par curves at 200 tenors from 0.25 to 50 years (the benchmark), and about 1,600 published GOI STRIP prices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91440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T-bill rates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7-day to 12-month FBIL rates. The 7-day, 3M, 6M and 12M rates are the short-end inputs, as in FBIL methodology v6</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82296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SDL valuation and SDL ZCYC</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5,438 state securities for the bonus task. FBIL's SDL curve stops at 14 years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
        <p:nvSpPr>
          <p:cNvPr id="5" name="Shape 2"/>
          <p:cNvSpPr/>
          <p:nvPr/>
        </p:nvSpPr>
        <p:spPr>
          <a:xfrm>
            <a:off x="7863840" y="1371600"/>
            <a:ext cx="3779215" cy="4846320"/>
          </a:xfrm>
          <a:prstGeom prst="roundRect">
            <a:avLst>
              <a:gd name="adj" fmla="val 1936"/>
            </a:avLst>
          </a:prstGeom>
          <a:solidFill>
            <a:srgbClr val="E6F1F2"/>
          </a:solidFill>
          <a:ln w="12700">
            <a:solidFill>
              <a:srgbClr val="E6F1F2"/>
            </a:solidFill>
            <a:prstDash val="solid"/>
          </a:ln>
        </p:spPr>
      </p:sp>
      <p:sp>
        <p:nvSpPr>
          <p:cNvPr id="6" name="Text 3"/>
          <p:cNvSpPr txBox="1"/>
          <p:nvPr/>
        </p:nvSpPr>
        <p:spPr>
          <a:xfrm>
            <a:off x="8092440" y="1554480"/>
            <a:ext cx="3322015" cy="4572000"/>
          </a:xfrm>
          <a:prstGeom prst="rect">
            <a:avLst/>
          </a:prstGeom>
          <a:noFill/>
          <a:ln/>
        </p:spPr>
        <p:txBody>
          <a:bodyPr wrap="square" lIns="0" tIns="0" rIns="0" bIns="0" rtlCol="0" anchor="t"/>
          <a:lstStyle/>
          <a:p>
            <a:pPr indent="0" marL="0">
              <a:spcAft>
                <a:spcPts val="400"/>
              </a:spcAft>
              <a:buNone/>
            </a:pPr>
            <a:r>
              <a:rPr lang="en-US" sz="1600" b="1" dirty="0">
                <a:solidFill>
                  <a:srgbClr val="1B6F7A"/>
                </a:solidFill>
                <a:latin typeface="Cambria" pitchFamily="34" charset="0"/>
                <a:ea typeface="Cambria" pitchFamily="34" charset="-122"/>
                <a:cs typeface="Cambria" pitchFamily="34" charset="-120"/>
              </a:rPr>
              <a:t>Choices we made</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11 September 2026 is the latest date available: FBIL publishes these files free with a seven-day lag.</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Four August dates were added so results can be checked across time rather than on a single day.</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FRBs, inflation-indexed and special securities are left out because their cash flows are not fixed.</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T-bill rates were copied from FBIL's website by hand; a screenshot for 11 Sep is in the input folder.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TASK 1  ·  STEP 2</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Pricing conventions, checked against FBIL's own numbers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834640"/>
                <a:gridCol w="4023360"/>
                <a:gridCol w="4233672"/>
              </a:tblGrid>
              <a:tr h="41148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Convention</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Test</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Result</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86868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Clean prices, T+1 business-day settlement</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Recompute FBIL's clean prices from its YTMs for each candidate settlement date</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b="1" dirty="0">
                          <a:solidFill>
                            <a:srgbClr val="0F2A33"/>
                          </a:solidFill>
                          <a:latin typeface="Calibri" pitchFamily="34" charset="0"/>
                          <a:ea typeface="Calibri" pitchFamily="34" charset="-122"/>
                          <a:cs typeface="Calibri" pitchFamily="34" charset="-120"/>
                        </a:rPr>
                        <a:t>T+1 best on all five dates (0.03–0.08 paise). For 11 Sep this is 15 Sep: 14 Sep was a market holiday</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86868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Time in years = actual days / 365.25</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Reprice FBIL's STRIPS from FBIL's ZCYC under four day-count bases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act/365.25 1.01 paise, act/365 2.08, act/360 42.6, 30/360 0.85. 30/360 is marginally closer; we keep act/365.25</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86868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T-bill rates used directly as zero rates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Compare with FBIL's ZCYC at 0.25, 0.5 and 1 year; try bond-equivalent conversion</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Equal at those tenors (6M within 1 bp). Conversion worsens the fit up to 14y: 1.70 vs 1.15 bp</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Par yield with a pro-rated first coupon</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Apply the formula to FBIL's zero curve and compare with FBIL's par sheet</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b="1" dirty="0">
                          <a:solidFill>
                            <a:srgbClr val="0F2A33"/>
                          </a:solidFill>
                          <a:latin typeface="Calibri" pitchFamily="34" charset="0"/>
                          <a:ea typeface="Calibri" pitchFamily="34" charset="-122"/>
                          <a:cs typeface="Calibri" pitchFamily="34" charset="-120"/>
                        </a:rPr>
                        <a:t>All 200 tenors within 0.87 bp</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64008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STRIP price = 100 × discount factor</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Price FBIL's STRIPS from FBIL's ZCYC</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Mean error 1.01 paise over 1592 STRIPS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2286000"/>
            <a:ext cx="6400800" cy="365760"/>
          </a:xfrm>
          <a:prstGeom prst="rect">
            <a:avLst/>
          </a:prstGeom>
          <a:noFill/>
          <a:ln/>
        </p:spPr>
        <p:txBody>
          <a:bodyPr wrap="square" lIns="0" tIns="0" rIns="0" bIns="0" rtlCol="0" anchor="ctr"/>
          <a:lstStyle/>
          <a:p>
            <a:pPr indent="0" marL="0">
              <a:buNone/>
            </a:pPr>
            <a:r>
              <a:rPr lang="en-US" sz="1500" spc="200" kern="0" dirty="0">
                <a:solidFill>
                  <a:srgbClr val="E8A33D"/>
                </a:solidFill>
                <a:latin typeface="Calibri" pitchFamily="34" charset="0"/>
                <a:ea typeface="Calibri" pitchFamily="34" charset="-122"/>
                <a:cs typeface="Calibri" pitchFamily="34" charset="-120"/>
              </a:rPr>
              <a:t>PART A  ·  TASKS 2 AND 3</a:t>
            </a:r>
            <a:endParaRPr lang="en-US" sz="1500" dirty="0"/>
          </a:p>
        </p:txBody>
      </p:sp>
      <p:sp>
        <p:nvSpPr>
          <p:cNvPr id="3" name="Text 1"/>
          <p:cNvSpPr txBox="1"/>
          <p:nvPr/>
        </p:nvSpPr>
        <p:spPr>
          <a:xfrm>
            <a:off x="548640" y="2697480"/>
            <a:ext cx="658368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Exact-fit bootstrap</a:t>
            </a:r>
            <a:endParaRPr lang="en-US" sz="4000" dirty="0"/>
          </a:p>
        </p:txBody>
      </p:sp>
      <p:sp>
        <p:nvSpPr>
          <p:cNvPr id="4" name="Text 2"/>
          <p:cNvSpPr txBox="1"/>
          <p:nvPr/>
        </p:nvSpPr>
        <p:spPr>
          <a:xfrm>
            <a:off x="7223760" y="2103120"/>
            <a:ext cx="4480560" cy="3291840"/>
          </a:xfrm>
          <a:prstGeom prst="rect">
            <a:avLst/>
          </a:prstGeom>
          <a:noFill/>
          <a:ln/>
        </p:spPr>
        <p:txBody>
          <a:bodyPr wrap="square" lIns="0" tIns="0" rIns="0" bIns="0" rtlCol="0" anchor="t"/>
          <a:lstStyle/>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1   Method</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2   Output curves</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3   Zero curve vs FBIL</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4   Par curve vs FBIL</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5   Gap by segment and date</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6   The long end</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7   Why it fails beyond 14 years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A  ·  EXACT FIT  ·  STEP 1</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Method: exact-fit cubic-spline bootstrap</a:t>
            </a:r>
            <a:endParaRPr lang="en-US" sz="2800" dirty="0"/>
          </a:p>
        </p:txBody>
      </p:sp>
      <p:sp>
        <p:nvSpPr>
          <p:cNvPr id="4" name="Shape 2"/>
          <p:cNvSpPr/>
          <p:nvPr/>
        </p:nvSpPr>
        <p:spPr>
          <a:xfrm>
            <a:off x="548640" y="1371600"/>
            <a:ext cx="2622728" cy="2651760"/>
          </a:xfrm>
          <a:prstGeom prst="roundRect">
            <a:avLst>
              <a:gd name="adj" fmla="val 2789"/>
            </a:avLst>
          </a:prstGeom>
          <a:solidFill>
            <a:srgbClr val="E6F1F2"/>
          </a:solidFill>
          <a:ln w="12700">
            <a:solidFill>
              <a:srgbClr val="E6F1F2"/>
            </a:solidFill>
            <a:prstDash val="solid"/>
          </a:ln>
        </p:spPr>
      </p:sp>
      <p:sp>
        <p:nvSpPr>
          <p:cNvPr id="5" name="Shape 3"/>
          <p:cNvSpPr/>
          <p:nvPr/>
        </p:nvSpPr>
        <p:spPr>
          <a:xfrm>
            <a:off x="749808" y="1572768"/>
            <a:ext cx="420624" cy="420624"/>
          </a:xfrm>
          <a:prstGeom prst="ellipse">
            <a:avLst/>
          </a:prstGeom>
          <a:solidFill>
            <a:srgbClr val="1B6F7A"/>
          </a:solidFill>
          <a:ln w="12700">
            <a:solidFill>
              <a:srgbClr val="1B6F7A"/>
            </a:solidFill>
            <a:prstDash val="solid"/>
          </a:ln>
        </p:spPr>
      </p:sp>
      <p:sp>
        <p:nvSpPr>
          <p:cNvPr id="6" name="Text 4"/>
          <p:cNvSpPr txBox="1"/>
          <p:nvPr/>
        </p:nvSpPr>
        <p:spPr>
          <a:xfrm>
            <a:off x="749808" y="15727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49808" y="210312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Place the knots</a:t>
            </a:r>
            <a:endParaRPr lang="en-US" sz="1500" dirty="0"/>
          </a:p>
        </p:txBody>
      </p:sp>
      <p:sp>
        <p:nvSpPr>
          <p:cNvPr id="8" name="Text 6"/>
          <p:cNvSpPr txBox="1"/>
          <p:nvPr/>
        </p:nvSpPr>
        <p:spPr>
          <a:xfrm>
            <a:off x="749808" y="2487168"/>
            <a:ext cx="2220392" cy="141732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Fixed knots at the 7-day, 3M, 6M and 12M T-bill rates, plus one knot at each input bond's maturity: 30 knots on 11 Sep.</a:t>
            </a:r>
            <a:endParaRPr lang="en-US" sz="1300" dirty="0"/>
          </a:p>
        </p:txBody>
      </p:sp>
      <p:sp>
        <p:nvSpPr>
          <p:cNvPr id="9" name="Shape 7"/>
          <p:cNvSpPr/>
          <p:nvPr/>
        </p:nvSpPr>
        <p:spPr>
          <a:xfrm>
            <a:off x="3372536" y="1371600"/>
            <a:ext cx="2622728" cy="2651760"/>
          </a:xfrm>
          <a:prstGeom prst="roundRect">
            <a:avLst>
              <a:gd name="adj" fmla="val 2789"/>
            </a:avLst>
          </a:prstGeom>
          <a:solidFill>
            <a:srgbClr val="F6FAFA"/>
          </a:solidFill>
          <a:ln w="12700">
            <a:solidFill>
              <a:srgbClr val="F6FAFA"/>
            </a:solidFill>
            <a:prstDash val="solid"/>
          </a:ln>
        </p:spPr>
      </p:sp>
      <p:sp>
        <p:nvSpPr>
          <p:cNvPr id="10" name="Shape 8"/>
          <p:cNvSpPr/>
          <p:nvPr/>
        </p:nvSpPr>
        <p:spPr>
          <a:xfrm>
            <a:off x="3573704" y="1572768"/>
            <a:ext cx="420624" cy="420624"/>
          </a:xfrm>
          <a:prstGeom prst="ellipse">
            <a:avLst/>
          </a:prstGeom>
          <a:solidFill>
            <a:srgbClr val="1B6F7A"/>
          </a:solidFill>
          <a:ln w="12700">
            <a:solidFill>
              <a:srgbClr val="1B6F7A"/>
            </a:solidFill>
            <a:prstDash val="solid"/>
          </a:ln>
        </p:spPr>
      </p:sp>
      <p:sp>
        <p:nvSpPr>
          <p:cNvPr id="11" name="Text 9"/>
          <p:cNvSpPr txBox="1"/>
          <p:nvPr/>
        </p:nvSpPr>
        <p:spPr>
          <a:xfrm>
            <a:off x="3573704" y="15727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573704" y="210312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One equation per bond</a:t>
            </a:r>
            <a:endParaRPr lang="en-US" sz="1500" dirty="0"/>
          </a:p>
        </p:txBody>
      </p:sp>
      <p:sp>
        <p:nvSpPr>
          <p:cNvPr id="13" name="Text 11"/>
          <p:cNvSpPr txBox="1"/>
          <p:nvPr/>
        </p:nvSpPr>
        <p:spPr>
          <a:xfrm>
            <a:off x="3573704" y="2487168"/>
            <a:ext cx="2220392" cy="141732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Each bond's cash flows, discounted on the spline, must equal its dirty price (FBIL clean price plus accrued interest).</a:t>
            </a:r>
            <a:endParaRPr lang="en-US" sz="1300" dirty="0"/>
          </a:p>
        </p:txBody>
      </p:sp>
      <p:sp>
        <p:nvSpPr>
          <p:cNvPr id="14" name="Shape 12"/>
          <p:cNvSpPr/>
          <p:nvPr/>
        </p:nvSpPr>
        <p:spPr>
          <a:xfrm>
            <a:off x="6196432" y="1371600"/>
            <a:ext cx="2622728" cy="2651760"/>
          </a:xfrm>
          <a:prstGeom prst="roundRect">
            <a:avLst>
              <a:gd name="adj" fmla="val 2789"/>
            </a:avLst>
          </a:prstGeom>
          <a:solidFill>
            <a:srgbClr val="E6F1F2"/>
          </a:solidFill>
          <a:ln w="12700">
            <a:solidFill>
              <a:srgbClr val="E6F1F2"/>
            </a:solidFill>
            <a:prstDash val="solid"/>
          </a:ln>
        </p:spPr>
      </p:sp>
      <p:sp>
        <p:nvSpPr>
          <p:cNvPr id="15" name="Shape 13"/>
          <p:cNvSpPr/>
          <p:nvPr/>
        </p:nvSpPr>
        <p:spPr>
          <a:xfrm>
            <a:off x="6397600" y="1572768"/>
            <a:ext cx="420624" cy="420624"/>
          </a:xfrm>
          <a:prstGeom prst="ellipse">
            <a:avLst/>
          </a:prstGeom>
          <a:solidFill>
            <a:srgbClr val="1B6F7A"/>
          </a:solidFill>
          <a:ln w="12700">
            <a:solidFill>
              <a:srgbClr val="1B6F7A"/>
            </a:solidFill>
            <a:prstDash val="solid"/>
          </a:ln>
        </p:spPr>
      </p:sp>
      <p:sp>
        <p:nvSpPr>
          <p:cNvPr id="16" name="Text 14"/>
          <p:cNvSpPr txBox="1"/>
          <p:nvPr/>
        </p:nvSpPr>
        <p:spPr>
          <a:xfrm>
            <a:off x="6397600" y="15727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397600" y="210312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Solve together</a:t>
            </a:r>
            <a:endParaRPr lang="en-US" sz="1500" dirty="0"/>
          </a:p>
        </p:txBody>
      </p:sp>
      <p:sp>
        <p:nvSpPr>
          <p:cNvPr id="18" name="Text 16"/>
          <p:cNvSpPr txBox="1"/>
          <p:nvPr/>
        </p:nvSpPr>
        <p:spPr>
          <a:xfrm>
            <a:off x="6397600" y="2487168"/>
            <a:ext cx="2220392" cy="141732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A spline links neighbouring knots, so the knot rates cannot be found one bond at a time. A root-finder solves all of them at once.</a:t>
            </a:r>
            <a:endParaRPr lang="en-US" sz="1300" dirty="0"/>
          </a:p>
        </p:txBody>
      </p:sp>
      <p:sp>
        <p:nvSpPr>
          <p:cNvPr id="19" name="Shape 17"/>
          <p:cNvSpPr/>
          <p:nvPr/>
        </p:nvSpPr>
        <p:spPr>
          <a:xfrm>
            <a:off x="9020327" y="1371600"/>
            <a:ext cx="2622728" cy="2651760"/>
          </a:xfrm>
          <a:prstGeom prst="roundRect">
            <a:avLst>
              <a:gd name="adj" fmla="val 2789"/>
            </a:avLst>
          </a:prstGeom>
          <a:solidFill>
            <a:srgbClr val="F6FAFA"/>
          </a:solidFill>
          <a:ln w="12700">
            <a:solidFill>
              <a:srgbClr val="F6FAFA"/>
            </a:solidFill>
            <a:prstDash val="solid"/>
          </a:ln>
        </p:spPr>
      </p:sp>
      <p:sp>
        <p:nvSpPr>
          <p:cNvPr id="20" name="Shape 18"/>
          <p:cNvSpPr/>
          <p:nvPr/>
        </p:nvSpPr>
        <p:spPr>
          <a:xfrm>
            <a:off x="9221495" y="1572768"/>
            <a:ext cx="420624" cy="420624"/>
          </a:xfrm>
          <a:prstGeom prst="ellipse">
            <a:avLst/>
          </a:prstGeom>
          <a:solidFill>
            <a:srgbClr val="1B6F7A"/>
          </a:solidFill>
          <a:ln w="12700">
            <a:solidFill>
              <a:srgbClr val="1B6F7A"/>
            </a:solidFill>
            <a:prstDash val="solid"/>
          </a:ln>
        </p:spPr>
      </p:sp>
      <p:sp>
        <p:nvSpPr>
          <p:cNvPr id="21" name="Text 19"/>
          <p:cNvSpPr txBox="1"/>
          <p:nvPr/>
        </p:nvSpPr>
        <p:spPr>
          <a:xfrm>
            <a:off x="9221495" y="157276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21495" y="210312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Natural cubic spline</a:t>
            </a:r>
            <a:endParaRPr lang="en-US" sz="1500" dirty="0"/>
          </a:p>
        </p:txBody>
      </p:sp>
      <p:sp>
        <p:nvSpPr>
          <p:cNvPr id="23" name="Text 21"/>
          <p:cNvSpPr txBox="1"/>
          <p:nvPr/>
        </p:nvSpPr>
        <p:spPr>
          <a:xfrm>
            <a:off x="9221495" y="2487168"/>
            <a:ext cx="2220392" cy="141732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Rate, slope and curvature are continuous at every knot, so the curve is twice differentiable by construction.</a:t>
            </a:r>
            <a:endParaRPr lang="en-US" sz="1300" dirty="0"/>
          </a:p>
        </p:txBody>
      </p:sp>
      <p:sp>
        <p:nvSpPr>
          <p:cNvPr id="24" name="Shape 22"/>
          <p:cNvSpPr/>
          <p:nvPr/>
        </p:nvSpPr>
        <p:spPr>
          <a:xfrm>
            <a:off x="548640" y="4251960"/>
            <a:ext cx="11094415" cy="1965960"/>
          </a:xfrm>
          <a:prstGeom prst="roundRect">
            <a:avLst>
              <a:gd name="adj" fmla="val 3721"/>
            </a:avLst>
          </a:prstGeom>
          <a:solidFill>
            <a:srgbClr val="FDF3E3"/>
          </a:solidFill>
          <a:ln w="12700">
            <a:solidFill>
              <a:srgbClr val="FDF3E3"/>
            </a:solidFill>
            <a:prstDash val="solid"/>
          </a:ln>
        </p:spPr>
      </p:sp>
      <p:sp>
        <p:nvSpPr>
          <p:cNvPr id="25" name="Text 23"/>
          <p:cNvSpPr txBox="1"/>
          <p:nvPr/>
        </p:nvSpPr>
        <p:spPr>
          <a:xfrm>
            <a:off x="822960" y="4434840"/>
            <a:ext cx="10545775" cy="1691640"/>
          </a:xfrm>
          <a:prstGeom prst="rect">
            <a:avLst/>
          </a:prstGeom>
          <a:noFill/>
          <a:ln/>
        </p:spPr>
        <p:txBody>
          <a:bodyPr wrap="square" lIns="0" tIns="0" rIns="0" bIns="0" rtlCol="0" anchor="t"/>
          <a:lstStyle/>
          <a:p>
            <a:pPr indent="0" marL="0">
              <a:spcAft>
                <a:spcPts val="400"/>
              </a:spcAft>
              <a:buNone/>
            </a:pPr>
            <a:r>
              <a:rPr lang="en-US" sz="1650" b="1" dirty="0">
                <a:solidFill>
                  <a:srgbClr val="1B6F7A"/>
                </a:solidFill>
                <a:latin typeface="Cambria" pitchFamily="34" charset="0"/>
                <a:ea typeface="Cambria" pitchFamily="34" charset="-122"/>
                <a:cs typeface="Cambria" pitchFamily="34" charset="-120"/>
              </a:rPr>
              <a:t>What this gives</a:t>
            </a:r>
            <a:endParaRPr lang="en-US" sz="1450" dirty="0"/>
          </a:p>
          <a:p>
            <a:pPr marL="177800" indent="-177800">
              <a:spcAft>
                <a:spcPts val="500"/>
              </a:spcAft>
              <a:buSzPct val="100000"/>
              <a:buChar char="•"/>
            </a:pPr>
            <a:r>
              <a:rPr lang="en-US" sz="1450" dirty="0">
                <a:solidFill>
                  <a:srgbClr val="0F2A33"/>
                </a:solidFill>
                <a:latin typeface="Calibri" pitchFamily="34" charset="0"/>
                <a:ea typeface="Calibri" pitchFamily="34" charset="-122"/>
                <a:cs typeface="Calibri" pitchFamily="34" charset="-120"/>
              </a:rPr>
              <a:t>A curve that passes exactly through every input: each bond reprices to within 1.4e-13 rupees and each T-bill rate is hit exactly.</a:t>
            </a:r>
            <a:endParaRPr lang="en-US" sz="1450" dirty="0"/>
          </a:p>
          <a:p>
            <a:pPr marL="177800" indent="-177800">
              <a:spcAft>
                <a:spcPts val="500"/>
              </a:spcAft>
              <a:buSzPct val="100000"/>
              <a:buChar char="•"/>
            </a:pPr>
            <a:r>
              <a:rPr lang="en-US" sz="1450" dirty="0">
                <a:solidFill>
                  <a:srgbClr val="0F2A33"/>
                </a:solidFill>
                <a:latin typeface="Calibri" pitchFamily="34" charset="0"/>
                <a:ea typeface="Calibri" pitchFamily="34" charset="-122"/>
                <a:cs typeface="Calibri" pitchFamily="34" charset="-120"/>
              </a:rPr>
              <a:t>The measured jump in the second derivative across knots is 2e-8, i.e. zero, so the curve is twice differentiable as the assignment requires.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A  ·  EXACT FIT  ·  STEP 2</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Output: zero and par curves from the exact fit</a:t>
            </a:r>
            <a:endParaRPr lang="en-US" sz="2800" dirty="0"/>
          </a:p>
        </p:txBody>
      </p:sp>
      <p:pic>
        <p:nvPicPr>
          <p:cNvPr id="4" name="Image 0" descr="/home/claude/final2/ZCYC_MiniProject_Bande_Yashas_Shubham_Aastha_Mansoor/additional_material/outputs/charts/exact_1_curves.png">    </p:cNvPr>
          <p:cNvPicPr>
            <a:picLocks noChangeAspect="1"/>
          </p:cNvPicPr>
          <p:nvPr/>
        </p:nvPicPr>
        <p:blipFill>
          <a:blip r:embed="rId1"/>
          <a:stretch>
            <a:fillRect/>
          </a:stretch>
        </p:blipFill>
        <p:spPr>
          <a:xfrm>
            <a:off x="548640" y="1325880"/>
            <a:ext cx="6942667" cy="3749040"/>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00" b="1" dirty="0">
                <a:solidFill>
                  <a:srgbClr val="1B6F7A"/>
                </a:solidFill>
                <a:latin typeface="Cambria" pitchFamily="34" charset="0"/>
                <a:ea typeface="Cambria" pitchFamily="34" charset="-122"/>
                <a:cs typeface="Cambria" pitchFamily="34" charset="-120"/>
              </a:rPr>
              <a:t>How to read it</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x-axis: residual maturity in years; y-axis: rate in % a year</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Solid navy: zero rate, semi-annual compounding. Teal dash-dot: the same rate annualised, (1 + z/2)² − 1</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Orange dashed: par yield. Grey dots: input bond YTMs. Red squares: the four T-bill inputs</a:t>
            </a:r>
            <a:endParaRPr lang="en-US" sz="1200" dirty="0"/>
          </a:p>
          <a:p>
            <a:pPr indent="0" marL="0">
              <a:spcBef>
                <a:spcPts val="800"/>
              </a:spcBef>
              <a:spcAft>
                <a:spcPts val="400"/>
              </a:spcAft>
              <a:buNone/>
            </a:pPr>
            <a:r>
              <a:rPr lang="en-US" sz="1400" b="1" dirty="0">
                <a:solidFill>
                  <a:srgbClr val="1B6F7A"/>
                </a:solidFill>
                <a:latin typeface="Cambria" pitchFamily="34" charset="0"/>
                <a:ea typeface="Cambria" pitchFamily="34" charset="-122"/>
                <a:cs typeface="Cambria" pitchFamily="34" charset="-120"/>
              </a:rPr>
              <a:t>What it shows</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Starts at the T-bill rates (5.18% at 3 months) and rises to 6.25% at 2 years and 7.16% at 10 years</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Beyond 20 years the zero curve wobbles: a bump near 27 years, a dip near 29, then a peak of 8.60% at 35.6 years before falling to 8.28% at 40</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The zero curve sits above the par curve and the YTMs at long tenors: on a rising curve, a single far cash flow needs a higher rate than a bond's average yield</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The par curve is much calmer than the zero curve because each par yield averages many zero rates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5257800"/>
          <a:ext cx="7223760" cy="914400"/>
        </p:xfrm>
        <a:graphic>
          <a:graphicData uri="http://schemas.openxmlformats.org/drawingml/2006/table">
            <a:tbl>
              <a:tblPr/>
              <a:tblGrid>
                <a:gridCol w="1188720"/>
                <a:gridCol w="603504"/>
                <a:gridCol w="603504"/>
                <a:gridCol w="603504"/>
                <a:gridCol w="603504"/>
                <a:gridCol w="603504"/>
                <a:gridCol w="603504"/>
                <a:gridCol w="603504"/>
                <a:gridCol w="603504"/>
                <a:gridCol w="603504"/>
                <a:gridCol w="603504"/>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Tenor</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0.25y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5y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14y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30y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40y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50y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Zero, s.a. %</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5.18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5.89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6.25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6.68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7.16</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7.28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7.86</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8.17</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8.28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8.06</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Par, s.a. %</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5.15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5.89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6.23</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6.64</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7.05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7.14</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7.45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7.62</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7.69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7.68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A  ·  EXACT FIT  ·  STEP 3</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Exact fit against FBIL's zero curve</a:t>
            </a:r>
            <a:endParaRPr lang="en-US" sz="2800" dirty="0"/>
          </a:p>
        </p:txBody>
      </p:sp>
      <p:pic>
        <p:nvPicPr>
          <p:cNvPr id="4" name="Image 0" descr="/home/claude/final2/ZCYC_MiniProject_Bande_Yashas_Shubham_Aastha_Mansoor/additional_material/outputs/charts/exact_2_vs_fbil.png">    </p:cNvPr>
          <p:cNvPicPr>
            <a:picLocks noChangeAspect="1"/>
          </p:cNvPicPr>
          <p:nvPr/>
        </p:nvPicPr>
        <p:blipFill>
          <a:blip r:embed="rId1"/>
          <a:stretch>
            <a:fillRect/>
          </a:stretch>
        </p:blipFill>
        <p:spPr>
          <a:xfrm>
            <a:off x="548640" y="1325880"/>
            <a:ext cx="7223760" cy="5056632"/>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Top: FBIL's zero curve (navy), the exact fit (dashed) and the input bond YTMs (teal dots)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Bottom: our rate minus FBIL's in basis points. Grey band: ±0.5 bp, FBIL's 2-decimal rounding. Dashed line: 14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Axes are identical in Parts A and B</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Up to 14 years the two curves are close: 1.21 bp average gap, largest 6.3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Beyond 14 years the gap averages 8.39 bp and swings between about −12 and +24 bp, peaking at 35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Over all 200 tenors: 6.38 bp average; only 32% of tenors are within 2 bp of FBIL</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swings line up with where input bonds are sparse (Step 6)</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A  ·  EXACT FIT  ·  STEP 4</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Exact fit: par yield against FBIL</a:t>
            </a:r>
            <a:endParaRPr lang="en-US" sz="2800" dirty="0"/>
          </a:p>
        </p:txBody>
      </p:sp>
      <p:pic>
        <p:nvPicPr>
          <p:cNvPr id="4" name="Image 0" descr="/home/claude/final2/ZCYC_MiniProject_Bande_Yashas_Shubham_Aastha_Mansoor/additional_material/outputs/charts/exact_3_par.png">    </p:cNvPr>
          <p:cNvPicPr>
            <a:picLocks noChangeAspect="1"/>
          </p:cNvPicPr>
          <p:nvPr/>
        </p:nvPicPr>
        <p:blipFill>
          <a:blip r:embed="rId1"/>
          <a:stretch>
            <a:fillRect/>
          </a:stretch>
        </p:blipFill>
        <p:spPr>
          <a:xfrm>
            <a:off x="548640" y="1325880"/>
            <a:ext cx="7223760" cy="4478731"/>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Top: FBIL's par yield (navy) and the par yield computed from the exact fit (dashed)</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Bottom: difference in bp, grey band ±0.5 bp. Same scale in Parts A and B</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Par yield = the coupon that prices a bond at 100 today; our formula reproduces FBIL's par sheet from FBIL's own zero curve to 0.87 bp</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Average par gap 1.36 bp; largest 6.0 bp at 15.5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Up to 12 years the par curves agree within about 1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zero-curve swings beyond 14 years show up again here, reduced to −6 to +4 bp because a par yield averages them</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After 38 years the par gap is almost zero even though the zero gap is about −10 bp: the par yield there is dominated by earlier coupons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A  ·  EXACT FIT  ·  STEP 5</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Exact fit: gap to FBIL by segment and by date</a:t>
            </a:r>
            <a:endParaRPr lang="en-US" sz="2800" dirty="0"/>
          </a:p>
        </p:txBody>
      </p:sp>
      <p:pic>
        <p:nvPicPr>
          <p:cNvPr id="4" name="Image 0" descr="/home/claude/final2/ZCYC_MiniProject_Bande_Yashas_Shubham_Aastha_Mansoor/additional_material/outputs/charts/exact_4_accuracy.png">    </p:cNvPr>
          <p:cNvPicPr>
            <a:picLocks noChangeAspect="1"/>
          </p:cNvPicPr>
          <p:nvPr/>
        </p:nvPicPr>
        <p:blipFill>
          <a:blip r:embed="rId1"/>
          <a:stretch>
            <a:fillRect/>
          </a:stretch>
        </p:blipFill>
        <p:spPr>
          <a:xfrm>
            <a:off x="548640" y="1325880"/>
            <a:ext cx="7223760" cy="2886198"/>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Left: average absolute gap to FBIL in each maturity band on 11 Sep. Dashed line: 14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Right: the same gap on each of the five dates, for all tenors (dark), up to 14 years (medium) and beyond 14 years (light)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Same scales in Parts A and B</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By segment (11 Sep): under 1 bp in every band up to 10 years, 2.7 bp at 10–14, then 5.7, 4.0, 13.1 and 9.7 bp in the bands beyond</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By date: up to 14 years 0.81–1.61 bp on every date; beyond 14 years 3.94–8.81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Five-date average: 1.15 bp up to 14 years, 7.49 bp beyond</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pattern repeats on every date, so the long-end problem is structural, not one bad day</a:t>
            </a:r>
            <a:endParaRPr lang="en-US" sz="1250" dirty="0"/>
          </a:p>
        </p:txBody>
      </p:sp>
      <p:sp>
        <p:nvSpPr>
          <p:cNvPr id="7" name="Shape 4"/>
          <p:cNvSpPr/>
          <p:nvPr/>
        </p:nvSpPr>
        <p:spPr>
          <a:xfrm>
            <a:off x="548640" y="4394958"/>
            <a:ext cx="7223760" cy="2097282"/>
          </a:xfrm>
          <a:prstGeom prst="roundRect">
            <a:avLst>
              <a:gd name="adj" fmla="val 3488"/>
            </a:avLst>
          </a:prstGeom>
          <a:solidFill>
            <a:srgbClr val="FDF3E3"/>
          </a:solidFill>
          <a:ln w="12700">
            <a:solidFill>
              <a:srgbClr val="FDF3E3"/>
            </a:solidFill>
            <a:prstDash val="solid"/>
          </a:ln>
        </p:spPr>
      </p:sp>
      <p:sp>
        <p:nvSpPr>
          <p:cNvPr id="8" name="Text 5"/>
          <p:cNvSpPr txBox="1"/>
          <p:nvPr/>
        </p:nvSpPr>
        <p:spPr>
          <a:xfrm>
            <a:off x="777240" y="4532118"/>
            <a:ext cx="6766560" cy="1868682"/>
          </a:xfrm>
          <a:prstGeom prst="rect">
            <a:avLst/>
          </a:prstGeom>
          <a:noFill/>
          <a:ln/>
        </p:spPr>
        <p:txBody>
          <a:bodyPr wrap="square" lIns="0" tIns="0" rIns="0" bIns="0" rtlCol="0" anchor="ctr"/>
          <a:lstStyle/>
          <a:p>
            <a:pPr indent="0" marL="0">
              <a:spcAft>
                <a:spcPts val="600"/>
              </a:spcAft>
              <a:buNone/>
            </a:pPr>
            <a:r>
              <a:rPr lang="en-US" sz="1400" dirty="0">
                <a:solidFill>
                  <a:srgbClr val="0F2A33"/>
                </a:solidFill>
                <a:latin typeface="Calibri" pitchFamily="34" charset="0"/>
                <a:ea typeface="Calibri" pitchFamily="34" charset="-122"/>
                <a:cs typeface="Calibri" pitchFamily="34" charset="-120"/>
              </a:rPr>
              <a:t>The exact fit is the better match to FBIL up to 10 years. Beyond 14 years, where 144 of FBIL's 200 published tenors lie, it is consistently several basis points off.</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A  ·  EXACT FIT  ·  STEP 6</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Exact fit: the long end</a:t>
            </a:r>
            <a:endParaRPr lang="en-US" sz="2800" dirty="0"/>
          </a:p>
        </p:txBody>
      </p:sp>
      <p:pic>
        <p:nvPicPr>
          <p:cNvPr id="4" name="Image 0" descr="/home/claude/final2/ZCYC_MiniProject_Bande_Yashas_Shubham_Aastha_Mansoor/additional_material/outputs/charts/exact_5_long_end.png">    </p:cNvPr>
          <p:cNvPicPr>
            <a:picLocks noChangeAspect="1"/>
          </p:cNvPicPr>
          <p:nvPr/>
        </p:nvPicPr>
        <p:blipFill>
          <a:blip r:embed="rId1"/>
          <a:stretch>
            <a:fillRect/>
          </a:stretch>
        </p:blipFill>
        <p:spPr>
          <a:xfrm>
            <a:off x="548640" y="1325880"/>
            <a:ext cx="7223760" cy="3467405"/>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FBIL's zero curve (navy) and the exact fit (dashed) beyond 14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Teal lines: maturities of the 10 input bonds beyond 14 years. Shaded: stretches of more than 5 years with no input bond</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In the 7.6-year gap between 30.0 and 37.6 years the curve bulges to 8.60%, about 24 bp above FBIL</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It then drops below FBIL and stays about 10 bp under it to 50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Around 27–29 years four bonds sit close together; small differences in their yields make the curve kink up and down</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 cubic spline forced through every point overshoots between widely spaced knots</a:t>
            </a:r>
            <a:endParaRPr lang="en-US" sz="1250" dirty="0"/>
          </a:p>
        </p:txBody>
      </p:sp>
      <p:sp>
        <p:nvSpPr>
          <p:cNvPr id="7" name="Shape 4"/>
          <p:cNvSpPr/>
          <p:nvPr/>
        </p:nvSpPr>
        <p:spPr>
          <a:xfrm>
            <a:off x="548640" y="4976165"/>
            <a:ext cx="7223760" cy="1516075"/>
          </a:xfrm>
          <a:prstGeom prst="roundRect">
            <a:avLst>
              <a:gd name="adj" fmla="val 4825"/>
            </a:avLst>
          </a:prstGeom>
          <a:solidFill>
            <a:srgbClr val="FDF3E3"/>
          </a:solidFill>
          <a:ln w="12700">
            <a:solidFill>
              <a:srgbClr val="FDF3E3"/>
            </a:solidFill>
            <a:prstDash val="solid"/>
          </a:ln>
        </p:spPr>
      </p:sp>
      <p:sp>
        <p:nvSpPr>
          <p:cNvPr id="8" name="Text 5"/>
          <p:cNvSpPr txBox="1"/>
          <p:nvPr/>
        </p:nvSpPr>
        <p:spPr>
          <a:xfrm>
            <a:off x="777240" y="5113325"/>
            <a:ext cx="6766560" cy="1287475"/>
          </a:xfrm>
          <a:prstGeom prst="rect">
            <a:avLst/>
          </a:prstGeom>
          <a:noFill/>
          <a:ln/>
        </p:spPr>
        <p:txBody>
          <a:bodyPr wrap="square" lIns="0" tIns="0" rIns="0" bIns="0" rtlCol="0" anchor="ctr"/>
          <a:lstStyle/>
          <a:p>
            <a:pPr indent="0" marL="0">
              <a:spcAft>
                <a:spcPts val="600"/>
              </a:spcAft>
              <a:buNone/>
            </a:pPr>
            <a:r>
              <a:rPr lang="en-US" sz="1400" dirty="0">
                <a:solidFill>
                  <a:srgbClr val="0F2A33"/>
                </a:solidFill>
                <a:latin typeface="Calibri" pitchFamily="34" charset="0"/>
                <a:ea typeface="Calibri" pitchFamily="34" charset="-122"/>
                <a:cs typeface="Calibri" pitchFamily="34" charset="-120"/>
              </a:rPr>
              <a:t>Where bonds are far apart the exact fit overshoots; where they are close together it picks up noise between them. Both effects come from forcing the curve through every bond.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A  ·  EXACT FIT  ·  STEP 7</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Why the exact fit fails beyond 14 years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657600"/>
                <a:gridCol w="3657600"/>
                <a:gridCol w="3776472"/>
              </a:tblGrid>
              <a:tr h="41148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Check (11 September)</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Result</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What it means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73152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Where the exact fit's long-end gap sits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5.9 bp at the input maturities, 8.4 bp across all tenors beyond 14y</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Most of the gap is at the knots themselves, so better interpolation alone cannot remove it</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Price FBIL's own input bonds on FBIL's published ZCYC</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b="1" dirty="0">
                          <a:solidFill>
                            <a:srgbClr val="0F2A33"/>
                          </a:solidFill>
                          <a:latin typeface="Calibri" pitchFamily="34" charset="0"/>
                          <a:ea typeface="Calibri" pitchFamily="34" charset="-122"/>
                          <a:cs typeface="Calibri" pitchFamily="34" charset="-120"/>
                        </a:rPr>
                        <a:t>Mean error 7.5 paise (13.0 beyond 14 years)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FBIL's curve does not pass through its own inputs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Same test after rounding our exact curve to 2 decimals on FBIL's 0.25-year grid</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0.89 paise</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Rounding explains only about an eighth of FBIL's error</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FBIL Concept Note, footnote 1</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FIMMDA's model also minimises the total gap between model and traded prices</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50" dirty="0">
                          <a:solidFill>
                            <a:srgbClr val="0F2A33"/>
                          </a:solidFill>
                          <a:latin typeface="Calibri" pitchFamily="34" charset="0"/>
                          <a:ea typeface="Calibri" pitchFamily="34" charset="-122"/>
                          <a:cs typeface="Calibri" pitchFamily="34" charset="-120"/>
                        </a:rPr>
                        <a:t>The predecessor method was an approximate fit too</a:t>
                      </a:r>
                      <a:endParaRPr lang="en-US" sz="13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
        <p:nvSpPr>
          <p:cNvPr id="5" name="Shape 2"/>
          <p:cNvSpPr/>
          <p:nvPr/>
        </p:nvSpPr>
        <p:spPr>
          <a:xfrm>
            <a:off x="548640" y="4937760"/>
            <a:ext cx="11094415" cy="1280160"/>
          </a:xfrm>
          <a:prstGeom prst="roundRect">
            <a:avLst>
              <a:gd name="adj" fmla="val 5714"/>
            </a:avLst>
          </a:prstGeom>
          <a:solidFill>
            <a:srgbClr val="E6F1F2"/>
          </a:solidFill>
          <a:ln w="12700">
            <a:solidFill>
              <a:srgbClr val="E6F1F2"/>
            </a:solidFill>
            <a:prstDash val="solid"/>
          </a:ln>
        </p:spPr>
      </p:sp>
      <p:sp>
        <p:nvSpPr>
          <p:cNvPr id="6" name="Text 3"/>
          <p:cNvSpPr txBox="1"/>
          <p:nvPr/>
        </p:nvSpPr>
        <p:spPr>
          <a:xfrm>
            <a:off x="822960" y="5074920"/>
            <a:ext cx="10545775" cy="1005840"/>
          </a:xfrm>
          <a:prstGeom prst="rect">
            <a:avLst/>
          </a:prstGeom>
          <a:noFill/>
          <a:ln/>
        </p:spPr>
        <p:txBody>
          <a:bodyPr wrap="square" lIns="0" tIns="0" rIns="0" bIns="0" rtlCol="0" anchor="t"/>
          <a:lstStyle/>
          <a:p>
            <a:pPr indent="0" marL="0">
              <a:buNone/>
            </a:pPr>
            <a:r>
              <a:rPr lang="en-US" sz="1500" dirty="0">
                <a:solidFill>
                  <a:srgbClr val="0F2A33"/>
                </a:solidFill>
                <a:latin typeface="Calibri" pitchFamily="34" charset="0"/>
                <a:ea typeface="Calibri" pitchFamily="34" charset="-122"/>
                <a:cs typeface="Calibri" pitchFamily="34" charset="-120"/>
              </a:rPr>
              <a:t>FBIL publishes an approximate fit. Forcing a curve through every bond passes small inconsistencies between neighbouring bonds straight into it. Part B therefore fits the same inputs approximately, and puts it through the same six steps.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2286000"/>
            <a:ext cx="6400800" cy="365760"/>
          </a:xfrm>
          <a:prstGeom prst="rect">
            <a:avLst/>
          </a:prstGeom>
          <a:noFill/>
          <a:ln/>
        </p:spPr>
        <p:txBody>
          <a:bodyPr wrap="square" lIns="0" tIns="0" rIns="0" bIns="0" rtlCol="0" anchor="ctr"/>
          <a:lstStyle/>
          <a:p>
            <a:pPr indent="0" marL="0">
              <a:buNone/>
            </a:pPr>
            <a:r>
              <a:rPr lang="en-US" sz="1500" spc="200" kern="0" dirty="0">
                <a:solidFill>
                  <a:srgbClr val="E8A33D"/>
                </a:solidFill>
                <a:latin typeface="Calibri" pitchFamily="34" charset="0"/>
                <a:ea typeface="Calibri" pitchFamily="34" charset="-122"/>
                <a:cs typeface="Calibri" pitchFamily="34" charset="-120"/>
              </a:rPr>
              <a:t>PART B  ·  TASKS 2 AND 3</a:t>
            </a:r>
            <a:endParaRPr lang="en-US" sz="1500" dirty="0"/>
          </a:p>
        </p:txBody>
      </p:sp>
      <p:sp>
        <p:nvSpPr>
          <p:cNvPr id="3" name="Text 1"/>
          <p:cNvSpPr txBox="1"/>
          <p:nvPr/>
        </p:nvSpPr>
        <p:spPr>
          <a:xfrm>
            <a:off x="548640" y="2697480"/>
            <a:ext cx="658368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Smoothed fit</a:t>
            </a:r>
            <a:endParaRPr lang="en-US" sz="4000" dirty="0"/>
          </a:p>
        </p:txBody>
      </p:sp>
      <p:sp>
        <p:nvSpPr>
          <p:cNvPr id="4" name="Text 2"/>
          <p:cNvSpPr txBox="1"/>
          <p:nvPr/>
        </p:nvSpPr>
        <p:spPr>
          <a:xfrm>
            <a:off x="7223760" y="2103120"/>
            <a:ext cx="4480560" cy="3291840"/>
          </a:xfrm>
          <a:prstGeom prst="rect">
            <a:avLst/>
          </a:prstGeom>
          <a:noFill/>
          <a:ln/>
        </p:spPr>
        <p:txBody>
          <a:bodyPr wrap="square" lIns="0" tIns="0" rIns="0" bIns="0" rtlCol="0" anchor="t"/>
          <a:lstStyle/>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1   Method</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2   Output curves</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3   Zero curve vs FBIL</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4   Par curve vs FBIL</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5   Gap by segment and date</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6   The long end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B  ·  SMOOTHED FIT  ·  STEP 1</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Method: smoothed cubic-spline fit (submitted curve)</a:t>
            </a:r>
            <a:endParaRPr lang="en-US" sz="2800" dirty="0"/>
          </a:p>
        </p:txBody>
      </p:sp>
      <p:sp>
        <p:nvSpPr>
          <p:cNvPr id="4" name="Shape 2"/>
          <p:cNvSpPr/>
          <p:nvPr/>
        </p:nvSpPr>
        <p:spPr>
          <a:xfrm>
            <a:off x="548640" y="1371600"/>
            <a:ext cx="6675120" cy="2011680"/>
          </a:xfrm>
          <a:prstGeom prst="roundRect">
            <a:avLst>
              <a:gd name="adj" fmla="val 3636"/>
            </a:avLst>
          </a:prstGeom>
          <a:solidFill>
            <a:srgbClr val="0F2A33"/>
          </a:solidFill>
          <a:ln w="12700">
            <a:solidFill>
              <a:srgbClr val="0F2A33"/>
            </a:solidFill>
            <a:prstDash val="solid"/>
          </a:ln>
        </p:spPr>
      </p:sp>
      <p:sp>
        <p:nvSpPr>
          <p:cNvPr id="5" name="Text 3"/>
          <p:cNvSpPr txBox="1"/>
          <p:nvPr/>
        </p:nvSpPr>
        <p:spPr>
          <a:xfrm>
            <a:off x="822960" y="1554480"/>
            <a:ext cx="6217920" cy="457200"/>
          </a:xfrm>
          <a:prstGeom prst="rect">
            <a:avLst/>
          </a:prstGeom>
          <a:noFill/>
          <a:ln/>
        </p:spPr>
        <p:txBody>
          <a:bodyPr wrap="square" lIns="0" tIns="0" rIns="0" bIns="0" rtlCol="0" anchor="ctr"/>
          <a:lstStyle/>
          <a:p>
            <a:pPr indent="0" marL="0">
              <a:buNone/>
            </a:pPr>
            <a:r>
              <a:rPr lang="en-US" sz="1300" dirty="0">
                <a:solidFill>
                  <a:srgbClr val="FFFFFF"/>
                </a:solidFill>
                <a:latin typeface="Consolas" pitchFamily="34" charset="0"/>
                <a:ea typeface="Consolas" pitchFamily="34" charset="-122"/>
                <a:cs typeface="Consolas" pitchFamily="34" charset="-120"/>
              </a:rPr>
              <a:t>min  Σ[wᵢ(model priceᵢ − dirty priceᵢ)]² + Σ[√λ(t)·z″(t)]²</a:t>
            </a:r>
            <a:endParaRPr lang="en-US" sz="1300" dirty="0"/>
          </a:p>
        </p:txBody>
      </p:sp>
      <p:sp>
        <p:nvSpPr>
          <p:cNvPr id="6" name="Text 4"/>
          <p:cNvSpPr txBox="1"/>
          <p:nvPr/>
        </p:nvSpPr>
        <p:spPr>
          <a:xfrm>
            <a:off x="822960" y="2011680"/>
            <a:ext cx="6217920" cy="132588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D8E8EA"/>
                </a:solidFill>
                <a:latin typeface="Calibri" pitchFamily="34" charset="0"/>
                <a:ea typeface="Calibri" pitchFamily="34" charset="-122"/>
                <a:cs typeface="Calibri" pitchFamily="34" charset="-120"/>
              </a:rPr>
              <a:t>Same inputs and same natural cubic spline as Part A, but 22 fixed knots for 26 bonds, so the curve cannot pass through every price</a:t>
            </a:r>
            <a:endParaRPr lang="en-US" sz="1250" dirty="0"/>
          </a:p>
          <a:p>
            <a:pPr marL="177800" indent="-177800">
              <a:spcAft>
                <a:spcPts val="500"/>
              </a:spcAft>
              <a:buSzPct val="100000"/>
              <a:buChar char="•"/>
            </a:pPr>
            <a:r>
              <a:rPr lang="en-US" sz="1250" dirty="0">
                <a:solidFill>
                  <a:srgbClr val="D8E8EA"/>
                </a:solidFill>
                <a:latin typeface="Calibri" pitchFamily="34" charset="0"/>
                <a:ea typeface="Calibri" pitchFamily="34" charset="-122"/>
                <a:cs typeface="Calibri" pitchFamily="34" charset="-120"/>
              </a:rPr>
              <a:t>wᵢ = 1 / (duration × price / 100), so a price error counts like a yield error</a:t>
            </a:r>
            <a:endParaRPr lang="en-US" sz="1250" dirty="0"/>
          </a:p>
          <a:p>
            <a:pPr marL="177800" indent="-177800">
              <a:spcAft>
                <a:spcPts val="500"/>
              </a:spcAft>
              <a:buSzPct val="100000"/>
              <a:buChar char="•"/>
            </a:pPr>
            <a:r>
              <a:rPr lang="en-US" sz="1250" dirty="0">
                <a:solidFill>
                  <a:srgbClr val="D8E8EA"/>
                </a:solidFill>
                <a:latin typeface="Calibri" pitchFamily="34" charset="0"/>
                <a:ea typeface="Calibri" pitchFamily="34" charset="-122"/>
                <a:cs typeface="Calibri" pitchFamily="34" charset="-120"/>
              </a:rPr>
              <a:t>λ(t) = 0.005 × (1 + 0.5 t): a curvature penalty that grows with maturity, where bonds are sparse. T-bill rates are imposed exactly</a:t>
            </a:r>
            <a:endParaRPr lang="en-US" sz="1250" dirty="0"/>
          </a:p>
        </p:txBody>
      </p:sp>
      <p:sp>
        <p:nvSpPr>
          <p:cNvPr id="7" name="Shape 5"/>
          <p:cNvSpPr/>
          <p:nvPr/>
        </p:nvSpPr>
        <p:spPr>
          <a:xfrm>
            <a:off x="548640" y="3566160"/>
            <a:ext cx="6675120" cy="2651760"/>
          </a:xfrm>
          <a:prstGeom prst="roundRect">
            <a:avLst>
              <a:gd name="adj" fmla="val 2759"/>
            </a:avLst>
          </a:prstGeom>
          <a:solidFill>
            <a:srgbClr val="E6F1F2"/>
          </a:solidFill>
          <a:ln w="12700">
            <a:solidFill>
              <a:srgbClr val="E6F1F2"/>
            </a:solidFill>
            <a:prstDash val="solid"/>
          </a:ln>
        </p:spPr>
      </p:sp>
      <p:sp>
        <p:nvSpPr>
          <p:cNvPr id="8" name="Text 6"/>
          <p:cNvSpPr txBox="1"/>
          <p:nvPr/>
        </p:nvSpPr>
        <p:spPr>
          <a:xfrm>
            <a:off x="822960" y="3703320"/>
            <a:ext cx="6217920" cy="2468880"/>
          </a:xfrm>
          <a:prstGeom prst="rect">
            <a:avLst/>
          </a:prstGeom>
          <a:noFill/>
          <a:ln/>
        </p:spPr>
        <p:txBody>
          <a:bodyPr wrap="square" lIns="0" tIns="0" rIns="0" bIns="0" rtlCol="0" anchor="t"/>
          <a:lstStyle/>
          <a:p>
            <a:pPr indent="0" marL="0">
              <a:spcAft>
                <a:spcPts val="400"/>
              </a:spcAft>
              <a:buNone/>
            </a:pPr>
            <a:r>
              <a:rPr lang="en-US" sz="1550" b="1" dirty="0">
                <a:solidFill>
                  <a:srgbClr val="1B6F7A"/>
                </a:solidFill>
                <a:latin typeface="Cambria" pitchFamily="34" charset="0"/>
                <a:ea typeface="Cambria" pitchFamily="34" charset="-122"/>
                <a:cs typeface="Cambria" pitchFamily="34" charset="-120"/>
              </a:rPr>
              <a:t>How λ and the slope were chosen</a:t>
            </a:r>
            <a:endParaRPr lang="en-US" sz="1350" dirty="0"/>
          </a:p>
          <a:p>
            <a:pPr marL="177800" indent="-177800">
              <a:spcAft>
                <a:spcPts val="500"/>
              </a:spcAft>
              <a:buSzPct val="100000"/>
              <a:buChar char="•"/>
            </a:pPr>
            <a:r>
              <a:rPr lang="en-US" sz="1350" dirty="0">
                <a:solidFill>
                  <a:srgbClr val="0F2A33"/>
                </a:solidFill>
                <a:latin typeface="Calibri" pitchFamily="34" charset="0"/>
                <a:ea typeface="Calibri" pitchFamily="34" charset="-122"/>
                <a:cs typeface="Calibri" pitchFamily="34" charset="-120"/>
              </a:rPr>
              <a:t>A grid of 36 settings was scored against FBIL's published curve on the four August dates; the lowest August average (2.83 bp) was kept.</a:t>
            </a:r>
            <a:endParaRPr lang="en-US" sz="1350" dirty="0"/>
          </a:p>
          <a:p>
            <a:pPr marL="177800" indent="-177800">
              <a:spcAft>
                <a:spcPts val="500"/>
              </a:spcAft>
              <a:buSzPct val="100000"/>
              <a:buChar char="•"/>
            </a:pPr>
            <a:r>
              <a:rPr lang="en-US" sz="1350" dirty="0">
                <a:solidFill>
                  <a:srgbClr val="0F2A33"/>
                </a:solidFill>
                <a:latin typeface="Calibri" pitchFamily="34" charset="0"/>
                <a:ea typeface="Calibri" pitchFamily="34" charset="-122"/>
                <a:cs typeface="Calibri" pitchFamily="34" charset="-120"/>
              </a:rPr>
              <a:t>11 September was never used in the choice, so it is the only held-out date.</a:t>
            </a:r>
            <a:endParaRPr lang="en-US" sz="1350" dirty="0"/>
          </a:p>
          <a:p>
            <a:pPr marL="177800" indent="-177800">
              <a:spcAft>
                <a:spcPts val="500"/>
              </a:spcAft>
              <a:buSzPct val="100000"/>
              <a:buChar char="•"/>
            </a:pPr>
            <a:r>
              <a:rPr lang="en-US" sz="1350" dirty="0">
                <a:solidFill>
                  <a:srgbClr val="0F2A33"/>
                </a:solidFill>
                <a:latin typeface="Calibri" pitchFamily="34" charset="0"/>
                <a:ea typeface="Calibri" pitchFamily="34" charset="-122"/>
                <a:cs typeface="Calibri" pitchFamily="34" charset="-120"/>
              </a:rPr>
              <a:t>This calibrates two numbers to FBIL. The curve itself is built only from bond prices and T-bill rates.</a:t>
            </a:r>
            <a:endParaRPr lang="en-US" sz="1350" dirty="0"/>
          </a:p>
          <a:p>
            <a:pPr marL="177800" indent="-177800">
              <a:spcAft>
                <a:spcPts val="500"/>
              </a:spcAft>
              <a:buSzPct val="100000"/>
              <a:buChar char="•"/>
            </a:pPr>
            <a:r>
              <a:rPr lang="en-US" sz="1350" dirty="0">
                <a:solidFill>
                  <a:srgbClr val="0F2A33"/>
                </a:solidFill>
                <a:latin typeface="Calibri" pitchFamily="34" charset="0"/>
                <a:ea typeface="Calibri" pitchFamily="34" charset="-122"/>
                <a:cs typeface="Calibri" pitchFamily="34" charset="-120"/>
              </a:rPr>
              <a:t>The held-out result depends on the choice: the 9 settings within 0.25 bp of the best give 1.51–2.84 bp on 11 Sep.</a:t>
            </a:r>
            <a:endParaRPr lang="en-US" sz="1350" dirty="0"/>
          </a:p>
        </p:txBody>
      </p:sp>
      <p:sp>
        <p:nvSpPr>
          <p:cNvPr id="9" name="Shape 7"/>
          <p:cNvSpPr/>
          <p:nvPr/>
        </p:nvSpPr>
        <p:spPr>
          <a:xfrm>
            <a:off x="7452360" y="1371600"/>
            <a:ext cx="4190695" cy="4846320"/>
          </a:xfrm>
          <a:prstGeom prst="roundRect">
            <a:avLst>
              <a:gd name="adj" fmla="val 1746"/>
            </a:avLst>
          </a:prstGeom>
          <a:solidFill>
            <a:srgbClr val="F6FAFA"/>
          </a:solidFill>
          <a:ln w="12700">
            <a:solidFill>
              <a:srgbClr val="F6FAFA"/>
            </a:solidFill>
            <a:prstDash val="solid"/>
          </a:ln>
        </p:spPr>
      </p:sp>
      <p:sp>
        <p:nvSpPr>
          <p:cNvPr id="10" name="Text 8"/>
          <p:cNvSpPr txBox="1"/>
          <p:nvPr/>
        </p:nvSpPr>
        <p:spPr>
          <a:xfrm>
            <a:off x="7680960" y="1554480"/>
            <a:ext cx="3733495" cy="4572000"/>
          </a:xfrm>
          <a:prstGeom prst="rect">
            <a:avLst/>
          </a:prstGeom>
          <a:noFill/>
          <a:ln/>
        </p:spPr>
        <p:txBody>
          <a:bodyPr wrap="square" lIns="0" tIns="0" rIns="0" bIns="0" rtlCol="0" anchor="t"/>
          <a:lstStyle/>
          <a:p>
            <a:pPr indent="0" marL="0">
              <a:spcAft>
                <a:spcPts val="400"/>
              </a:spcAft>
              <a:buNone/>
            </a:pPr>
            <a:r>
              <a:rPr lang="en-US" sz="1600" b="1" dirty="0">
                <a:solidFill>
                  <a:srgbClr val="1B6F7A"/>
                </a:solidFill>
                <a:latin typeface="Cambria" pitchFamily="34" charset="0"/>
                <a:ea typeface="Cambria" pitchFamily="34" charset="-122"/>
                <a:cs typeface="Cambria" pitchFamily="34" charset="-120"/>
              </a:rPr>
              <a:t>Checks on all five dates</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Still twice differentiable: second-derivative jump 3e-8</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Discount factors fall at every step: yes</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3-month forward rates 5.7% to 10.2%, none negative</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Zero rates 5.18% to 8.48%</a:t>
            </a:r>
            <a:endParaRPr lang="en-US" sz="1400" dirty="0"/>
          </a:p>
          <a:p>
            <a:pPr indent="0" marL="0">
              <a:spcBef>
                <a:spcPts val="800"/>
              </a:spcBef>
              <a:spcAft>
                <a:spcPts val="400"/>
              </a:spcAft>
              <a:buNone/>
            </a:pPr>
            <a:r>
              <a:rPr lang="en-US" sz="1600" b="1" dirty="0">
                <a:solidFill>
                  <a:srgbClr val="1B6F7A"/>
                </a:solidFill>
                <a:latin typeface="Cambria" pitchFamily="34" charset="0"/>
                <a:ea typeface="Cambria" pitchFamily="34" charset="-122"/>
                <a:cs typeface="Cambria" pitchFamily="34" charset="-120"/>
              </a:rPr>
              <a:t>Fit to the input bonds</a:t>
            </a:r>
            <a:endParaRPr lang="en-US" sz="1400" dirty="0"/>
          </a:p>
          <a:p>
            <a:pPr marL="177800" indent="-177800">
              <a:spcAft>
                <a:spcPts val="500"/>
              </a:spcAft>
              <a:buSzPct val="100000"/>
              <a:buChar char="•"/>
            </a:pPr>
            <a:r>
              <a:rPr lang="en-US" sz="1400" dirty="0">
                <a:solidFill>
                  <a:srgbClr val="0F2A33"/>
                </a:solidFill>
                <a:latin typeface="Calibri" pitchFamily="34" charset="0"/>
                <a:ea typeface="Calibri" pitchFamily="34" charset="-122"/>
                <a:cs typeface="Calibri" pitchFamily="34" charset="-120"/>
              </a:rPr>
              <a:t>Misses its inputs by 10.2 paise on average; FBIL's curve misses them by 7.6 paise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B  ·  SMOOTHED FIT  ·  STEP 2</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Output: zero and par curves from the smoothed fit</a:t>
            </a:r>
            <a:endParaRPr lang="en-US" sz="2800" dirty="0"/>
          </a:p>
        </p:txBody>
      </p:sp>
      <p:pic>
        <p:nvPicPr>
          <p:cNvPr id="4" name="Image 0" descr="/home/claude/final2/ZCYC_MiniProject_Bande_Yashas_Shubham_Aastha_Mansoor/additional_material/outputs/charts/smooth_1_curves.png">    </p:cNvPr>
          <p:cNvPicPr>
            <a:picLocks noChangeAspect="1"/>
          </p:cNvPicPr>
          <p:nvPr/>
        </p:nvPicPr>
        <p:blipFill>
          <a:blip r:embed="rId1"/>
          <a:stretch>
            <a:fillRect/>
          </a:stretch>
        </p:blipFill>
        <p:spPr>
          <a:xfrm>
            <a:off x="548640" y="1325880"/>
            <a:ext cx="6942667" cy="3749040"/>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00" b="1" dirty="0">
                <a:solidFill>
                  <a:srgbClr val="1B6F7A"/>
                </a:solidFill>
                <a:latin typeface="Cambria" pitchFamily="34" charset="0"/>
                <a:ea typeface="Cambria" pitchFamily="34" charset="-122"/>
                <a:cs typeface="Cambria" pitchFamily="34" charset="-120"/>
              </a:rPr>
              <a:t>How to read it</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x-axis: residual maturity in years; y-axis: rate in % a year</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Solid navy: zero rate, semi-annual compounding. Teal dash-dot: the same rate annualised, (1 + z/2)² − 1</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Orange dashed: par yield. Grey dots: input bond YTMs. Red squares: the four T-bill inputs</a:t>
            </a:r>
            <a:endParaRPr lang="en-US" sz="1200" dirty="0"/>
          </a:p>
          <a:p>
            <a:pPr indent="0" marL="0">
              <a:spcBef>
                <a:spcPts val="800"/>
              </a:spcBef>
              <a:spcAft>
                <a:spcPts val="400"/>
              </a:spcAft>
              <a:buNone/>
            </a:pPr>
            <a:r>
              <a:rPr lang="en-US" sz="1400" b="1" dirty="0">
                <a:solidFill>
                  <a:srgbClr val="1B6F7A"/>
                </a:solidFill>
                <a:latin typeface="Cambria" pitchFamily="34" charset="0"/>
                <a:ea typeface="Cambria" pitchFamily="34" charset="-122"/>
                <a:cs typeface="Cambria" pitchFamily="34" charset="-120"/>
              </a:rPr>
              <a:t>What it shows</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Starts at the same T-bill rates and rises to 6.20% at 2 years and 7.13% at 10 years</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Beyond 20 years it climbs steadily to a single peak of 8.40% near 39 years and eases to 8.08% at 50</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The wobbles of Part A between 25 and 40 years are gone</a:t>
            </a:r>
            <a:endParaRPr lang="en-US" sz="1200" dirty="0"/>
          </a:p>
          <a:p>
            <a:pPr marL="177800" indent="-177800">
              <a:spcAft>
                <a:spcPts val="500"/>
              </a:spcAft>
              <a:buSzPct val="100000"/>
              <a:buChar char="•"/>
            </a:pPr>
            <a:r>
              <a:rPr lang="en-US" sz="1200" dirty="0">
                <a:solidFill>
                  <a:srgbClr val="0F2A33"/>
                </a:solidFill>
                <a:latin typeface="Calibri" pitchFamily="34" charset="0"/>
                <a:ea typeface="Calibri" pitchFamily="34" charset="-122"/>
                <a:cs typeface="Calibri" pitchFamily="34" charset="-120"/>
              </a:rPr>
              <a:t>Zero above par above YTMs at long tenors, as before; the par curve is almost identical to Part A's</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5257800"/>
          <a:ext cx="7223760" cy="914400"/>
        </p:xfrm>
        <a:graphic>
          <a:graphicData uri="http://schemas.openxmlformats.org/drawingml/2006/table">
            <a:tbl>
              <a:tblPr/>
              <a:tblGrid>
                <a:gridCol w="1188720"/>
                <a:gridCol w="603504"/>
                <a:gridCol w="603504"/>
                <a:gridCol w="603504"/>
                <a:gridCol w="603504"/>
                <a:gridCol w="603504"/>
                <a:gridCol w="603504"/>
                <a:gridCol w="603504"/>
                <a:gridCol w="603504"/>
                <a:gridCol w="603504"/>
                <a:gridCol w="603504"/>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Tenor</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0.25y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5y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14y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20y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30y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40y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50y</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Zero, s.a. %</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5.18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5.89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6.20</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6.72</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7.13</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7.26</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7.83</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8.19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8.40</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8.08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Par, s.a. %</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5.15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5.89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6.19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6.67</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7.03</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7.13</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7.44</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7.63</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7.69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7.68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B  ·  SMOOTHED FIT  ·  STEP 3</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Smoothed fit against FBIL's zero curve</a:t>
            </a:r>
            <a:endParaRPr lang="en-US" sz="2800" dirty="0"/>
          </a:p>
        </p:txBody>
      </p:sp>
      <p:pic>
        <p:nvPicPr>
          <p:cNvPr id="4" name="Image 0" descr="/home/claude/final2/ZCYC_MiniProject_Bande_Yashas_Shubham_Aastha_Mansoor/additional_material/outputs/charts/smooth_2_vs_fbil.png">    </p:cNvPr>
          <p:cNvPicPr>
            <a:picLocks noChangeAspect="1"/>
          </p:cNvPicPr>
          <p:nvPr/>
        </p:nvPicPr>
        <p:blipFill>
          <a:blip r:embed="rId1"/>
          <a:stretch>
            <a:fillRect/>
          </a:stretch>
        </p:blipFill>
        <p:spPr>
          <a:xfrm>
            <a:off x="548640" y="1325880"/>
            <a:ext cx="7223760" cy="5056632"/>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Top: FBIL's zero curve (navy), the smoothed fit (dashed) and the input bond YTMs (teal dots)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Bottom: our rate minus FBIL's in basis points. Grey band: ±0.5 bp, FBIL's 2-decimal rounding. Dashed line: 14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Axes are identical in Parts A and B</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Beyond 14 years the gap averages 1.65 bp and never exceeds 4.1 bp (exact fit: 8.39 and 24.1)</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Up to 14 years it is 2.01 bp on average (exact fit: 1.21). The worst point is 5.2 bp at 2.5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Over all 200 tenors: 1.75 bp; 67% of tenors are within 2 bp (exact fit: 32%)</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small ripples between 3 and 12 years are FBIL's curve bending around individual bonds, which the smoothed fit does not follow</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B  ·  SMOOTHED FIT  ·  STEP 4</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Smoothed fit: par yield against FBIL</a:t>
            </a:r>
            <a:endParaRPr lang="en-US" sz="2800" dirty="0"/>
          </a:p>
        </p:txBody>
      </p:sp>
      <p:pic>
        <p:nvPicPr>
          <p:cNvPr id="4" name="Image 0" descr="/home/claude/final2/ZCYC_MiniProject_Bande_Yashas_Shubham_Aastha_Mansoor/additional_material/outputs/charts/smooth_3_par.png">    </p:cNvPr>
          <p:cNvPicPr>
            <a:picLocks noChangeAspect="1"/>
          </p:cNvPicPr>
          <p:nvPr/>
        </p:nvPicPr>
        <p:blipFill>
          <a:blip r:embed="rId1"/>
          <a:stretch>
            <a:fillRect/>
          </a:stretch>
        </p:blipFill>
        <p:spPr>
          <a:xfrm>
            <a:off x="548640" y="1325880"/>
            <a:ext cx="7223760" cy="4478731"/>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Top: FBIL's par yield (navy) and the par yield computed from the smoothed fit (dashed)</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Bottom: difference in bp, grey band ±0.5 bp. Same scale in Parts A and B</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Par yield = the coupon that prices a bond at 100 today; our formula reproduces FBIL's par sheet from FBIL's own zero curve to 0.87 bp</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Average par gap 0.82 bp (exact fit 1.36); largest 5.0 bp at 2.5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Beyond 20 years the par gap averages 0.44 bp (exact fit 1.32)</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13–20 year dip of Part A is gone</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largest differences have moved to 2–6 years, where the zero curve is also weakest</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B  ·  SMOOTHED FIT  ·  STEP 5</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Smoothed fit: gap to FBIL by segment and by date</a:t>
            </a:r>
            <a:endParaRPr lang="en-US" sz="2800" dirty="0"/>
          </a:p>
        </p:txBody>
      </p:sp>
      <p:pic>
        <p:nvPicPr>
          <p:cNvPr id="4" name="Image 0" descr="/home/claude/final2/ZCYC_MiniProject_Bande_Yashas_Shubham_Aastha_Mansoor/additional_material/outputs/charts/smooth_4_accuracy.png">    </p:cNvPr>
          <p:cNvPicPr>
            <a:picLocks noChangeAspect="1"/>
          </p:cNvPicPr>
          <p:nvPr/>
        </p:nvPicPr>
        <p:blipFill>
          <a:blip r:embed="rId1"/>
          <a:stretch>
            <a:fillRect/>
          </a:stretch>
        </p:blipFill>
        <p:spPr>
          <a:xfrm>
            <a:off x="548640" y="1325880"/>
            <a:ext cx="7223760" cy="2886198"/>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Left: average absolute gap to FBIL in each maturity band on 11 Sep. Dashed line: 14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Right: the same gap on each of the five dates, for all tenors (dark), up to 14 years (medium) and beyond 14 years (light)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Same scales in Parts A and B</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By segment (11 Sep): between 1.1 and 2.2 bp in every band beyond 14 years; up to 10 years 1.7–2.7 bp, worst at 1–3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By date: beyond 14 years 0.72–6.99 bp; up to 14 years 1.49–2.01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5 August is the weak date (5.52 bp). It was the RBI policy day; FBIL's methodology names policy events as a source of volatility</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Five-date average: 1.71 bp up to 14 years, 2.97 bp beyond (exact fit 1.15 and 7.49)</a:t>
            </a:r>
            <a:endParaRPr lang="en-US" sz="1250" dirty="0"/>
          </a:p>
        </p:txBody>
      </p:sp>
      <p:sp>
        <p:nvSpPr>
          <p:cNvPr id="7" name="Shape 4"/>
          <p:cNvSpPr/>
          <p:nvPr/>
        </p:nvSpPr>
        <p:spPr>
          <a:xfrm>
            <a:off x="548640" y="4394958"/>
            <a:ext cx="7223760" cy="2097282"/>
          </a:xfrm>
          <a:prstGeom prst="roundRect">
            <a:avLst>
              <a:gd name="adj" fmla="val 3488"/>
            </a:avLst>
          </a:prstGeom>
          <a:solidFill>
            <a:srgbClr val="FDF3E3"/>
          </a:solidFill>
          <a:ln w="12700">
            <a:solidFill>
              <a:srgbClr val="FDF3E3"/>
            </a:solidFill>
            <a:prstDash val="solid"/>
          </a:ln>
        </p:spPr>
      </p:sp>
      <p:sp>
        <p:nvSpPr>
          <p:cNvPr id="8" name="Text 5"/>
          <p:cNvSpPr txBox="1"/>
          <p:nvPr/>
        </p:nvSpPr>
        <p:spPr>
          <a:xfrm>
            <a:off x="777240" y="4532118"/>
            <a:ext cx="6766560" cy="1868682"/>
          </a:xfrm>
          <a:prstGeom prst="rect">
            <a:avLst/>
          </a:prstGeom>
          <a:noFill/>
          <a:ln/>
        </p:spPr>
        <p:txBody>
          <a:bodyPr wrap="square" lIns="0" tIns="0" rIns="0" bIns="0" rtlCol="0" anchor="ctr"/>
          <a:lstStyle/>
          <a:p>
            <a:pPr indent="0" marL="0">
              <a:spcAft>
                <a:spcPts val="600"/>
              </a:spcAft>
              <a:buNone/>
            </a:pPr>
            <a:r>
              <a:rPr lang="en-US" sz="1400" dirty="0">
                <a:solidFill>
                  <a:srgbClr val="0F2A33"/>
                </a:solidFill>
                <a:latin typeface="Calibri" pitchFamily="34" charset="0"/>
                <a:ea typeface="Calibri" pitchFamily="34" charset="-122"/>
                <a:cs typeface="Calibri" pitchFamily="34" charset="-120"/>
              </a:rPr>
              <a:t>Compared with Part A the bars are flatter across maturities: the long end improves sharply, and the bands up to 10 years lose 1–2 bp. The 1–3 year band has no input bond between the 1-year T-bill and 2.6 years.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B  ·  SMOOTHED FIT  ·  STEP 6</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Smoothed fit: the long end</a:t>
            </a:r>
            <a:endParaRPr lang="en-US" sz="2800" dirty="0"/>
          </a:p>
        </p:txBody>
      </p:sp>
      <p:pic>
        <p:nvPicPr>
          <p:cNvPr id="4" name="Image 0" descr="/home/claude/final2/ZCYC_MiniProject_Bande_Yashas_Shubham_Aastha_Mansoor/additional_material/outputs/charts/smooth_5_long_end.png">    </p:cNvPr>
          <p:cNvPicPr>
            <a:picLocks noChangeAspect="1"/>
          </p:cNvPicPr>
          <p:nvPr/>
        </p:nvPicPr>
        <p:blipFill>
          <a:blip r:embed="rId1"/>
          <a:stretch>
            <a:fillRect/>
          </a:stretch>
        </p:blipFill>
        <p:spPr>
          <a:xfrm>
            <a:off x="548640" y="1325880"/>
            <a:ext cx="7223760" cy="3467405"/>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FBIL's zero curve (navy) and the smoothed fit (dashed) beyond 14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Teal lines: maturities of the 10 input bonds beyond 14 years. Shaded: stretches of more than 5 years with no input bond</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curve follows FBIL's through all three long gaps, with no bulge between 30 and 37.6 years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It peaks at 8.40% near 39 years, where FBIL's curve also peaks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kinks around 27–29 years are gone: the penalty stops the curve bending to fit small differences between neighbouring bonds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Largest gap beyond 14 years: 4.1 bp</a:t>
            </a:r>
            <a:endParaRPr lang="en-US" sz="1250" dirty="0"/>
          </a:p>
        </p:txBody>
      </p:sp>
      <p:sp>
        <p:nvSpPr>
          <p:cNvPr id="7" name="Shape 4"/>
          <p:cNvSpPr/>
          <p:nvPr/>
        </p:nvSpPr>
        <p:spPr>
          <a:xfrm>
            <a:off x="548640" y="4976165"/>
            <a:ext cx="7223760" cy="1516075"/>
          </a:xfrm>
          <a:prstGeom prst="roundRect">
            <a:avLst>
              <a:gd name="adj" fmla="val 4825"/>
            </a:avLst>
          </a:prstGeom>
          <a:solidFill>
            <a:srgbClr val="FDF3E3"/>
          </a:solidFill>
          <a:ln w="12700">
            <a:solidFill>
              <a:srgbClr val="FDF3E3"/>
            </a:solidFill>
            <a:prstDash val="solid"/>
          </a:ln>
        </p:spPr>
      </p:sp>
      <p:sp>
        <p:nvSpPr>
          <p:cNvPr id="8" name="Text 5"/>
          <p:cNvSpPr txBox="1"/>
          <p:nvPr/>
        </p:nvSpPr>
        <p:spPr>
          <a:xfrm>
            <a:off x="777240" y="5113325"/>
            <a:ext cx="6766560" cy="1287475"/>
          </a:xfrm>
          <a:prstGeom prst="rect">
            <a:avLst/>
          </a:prstGeom>
          <a:noFill/>
          <a:ln/>
        </p:spPr>
        <p:txBody>
          <a:bodyPr wrap="square" lIns="0" tIns="0" rIns="0" bIns="0" rtlCol="0" anchor="ctr"/>
          <a:lstStyle/>
          <a:p>
            <a:pPr indent="0" marL="0">
              <a:spcAft>
                <a:spcPts val="600"/>
              </a:spcAft>
              <a:buNone/>
            </a:pPr>
            <a:r>
              <a:rPr lang="en-US" sz="1400" dirty="0">
                <a:solidFill>
                  <a:srgbClr val="0F2A33"/>
                </a:solidFill>
                <a:latin typeface="Calibri" pitchFamily="34" charset="0"/>
                <a:ea typeface="Calibri" pitchFamily="34" charset="-122"/>
                <a:cs typeface="Calibri" pitchFamily="34" charset="-120"/>
              </a:rPr>
              <a:t>Same chart as Part A, Step 6. Allowing small pricing errors on individual bonds removes both the overshoot in gaps and the noise between close bonds.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2286000"/>
            <a:ext cx="6400800" cy="365760"/>
          </a:xfrm>
          <a:prstGeom prst="rect">
            <a:avLst/>
          </a:prstGeom>
          <a:noFill/>
          <a:ln/>
        </p:spPr>
        <p:txBody>
          <a:bodyPr wrap="square" lIns="0" tIns="0" rIns="0" bIns="0" rtlCol="0" anchor="ctr"/>
          <a:lstStyle/>
          <a:p>
            <a:pPr indent="0" marL="0">
              <a:buNone/>
            </a:pPr>
            <a:r>
              <a:rPr lang="en-US" sz="1500" spc="200" kern="0" dirty="0">
                <a:solidFill>
                  <a:srgbClr val="E8A33D"/>
                </a:solidFill>
                <a:latin typeface="Calibri" pitchFamily="34" charset="0"/>
                <a:ea typeface="Calibri" pitchFamily="34" charset="-122"/>
                <a:cs typeface="Calibri" pitchFamily="34" charset="-120"/>
              </a:rPr>
              <a:t>PART C  ·  TASK 3</a:t>
            </a:r>
            <a:endParaRPr lang="en-US" sz="1500" dirty="0"/>
          </a:p>
        </p:txBody>
      </p:sp>
      <p:sp>
        <p:nvSpPr>
          <p:cNvPr id="3" name="Text 1"/>
          <p:cNvSpPr txBox="1"/>
          <p:nvPr/>
        </p:nvSpPr>
        <p:spPr>
          <a:xfrm>
            <a:off x="548640" y="2697480"/>
            <a:ext cx="658368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Exact fit or smoothed fit?</a:t>
            </a:r>
            <a:endParaRPr lang="en-US" sz="4000" dirty="0"/>
          </a:p>
        </p:txBody>
      </p:sp>
      <p:sp>
        <p:nvSpPr>
          <p:cNvPr id="4" name="Text 2"/>
          <p:cNvSpPr txBox="1"/>
          <p:nvPr/>
        </p:nvSpPr>
        <p:spPr>
          <a:xfrm>
            <a:off x="7223760" y="2103120"/>
            <a:ext cx="4480560" cy="3291840"/>
          </a:xfrm>
          <a:prstGeom prst="rect">
            <a:avLst/>
          </a:prstGeom>
          <a:noFill/>
          <a:ln/>
        </p:spPr>
        <p:txBody>
          <a:bodyPr wrap="square" lIns="0" tIns="0" rIns="0" bIns="0" rtlCol="0" anchor="t"/>
          <a:lstStyle/>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1   Side by side</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2   Leave-one-out test</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3   Why both differ from FBIL</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4   Alternatives tested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C  ·  STEP 1</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Side by side</a:t>
            </a:r>
            <a:endParaRPr lang="en-US" sz="2800" dirty="0"/>
          </a:p>
        </p:txBody>
      </p:sp>
      <p:pic>
        <p:nvPicPr>
          <p:cNvPr id="4" name="Image 0" descr="/home/claude/final2/ZCYC_MiniProject_Bande_Yashas_Shubham_Aastha_Mansoor/additional_material/outputs/charts/12_segments.png">    </p:cNvPr>
          <p:cNvPicPr>
            <a:picLocks noChangeAspect="1"/>
          </p:cNvPicPr>
          <p:nvPr/>
        </p:nvPicPr>
        <p:blipFill>
          <a:blip r:embed="rId1"/>
          <a:stretch>
            <a:fillRect/>
          </a:stretch>
        </p:blipFill>
        <p:spPr>
          <a:xfrm>
            <a:off x="548640" y="1325880"/>
            <a:ext cx="5870804" cy="2697480"/>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Chart: grey is the exact fit (Part A), orange the smoothed fit (Part B). Each pair is one maturity band on 11 Sep; bar height is the average gap to FBIL in that band</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Table: the same comparison as single numbers, on 11 Sep and averaged over all five dates. Lower is better; bold marks the better curve in each row</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Up to 10 years the exact fit is closer to FBIL by 1–2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From 10 to 14 years they are level</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Beyond 14 years the smoothed fit is closer by 4–12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144 of FBIL's 200 tenors lie beyond 14 years, so all-tenor averages favour the smoothed fit</a:t>
            </a:r>
            <a:endParaRPr lang="en-US" sz="1250" dirty="0"/>
          </a:p>
        </p:txBody>
      </p:sp>
      <p:sp>
        <p:nvSpPr>
          <p:cNvPr id="7" name="Text 4"/>
          <p:cNvSpPr txBox="1"/>
          <p:nvPr/>
        </p:nvSpPr>
        <p:spPr>
          <a:xfrm>
            <a:off x="548640" y="4114800"/>
            <a:ext cx="7223760" cy="274320"/>
          </a:xfrm>
          <a:prstGeom prst="rect">
            <a:avLst/>
          </a:prstGeom>
          <a:noFill/>
          <a:ln/>
        </p:spPr>
        <p:txBody>
          <a:bodyPr wrap="square" lIns="0" tIns="0" rIns="0" bIns="0" rtlCol="0" anchor="t"/>
          <a:lstStyle/>
          <a:p>
            <a:pPr indent="0" marL="0">
              <a:buNone/>
            </a:pPr>
            <a:r>
              <a:rPr lang="en-US" sz="1200" b="1" dirty="0">
                <a:solidFill>
                  <a:srgbClr val="1B6F7A"/>
                </a:solidFill>
                <a:latin typeface="Calibri" pitchFamily="34" charset="0"/>
                <a:ea typeface="Calibri" pitchFamily="34" charset="-122"/>
                <a:cs typeface="Calibri" pitchFamily="34" charset="-120"/>
              </a:rPr>
              <a:t>Average absolute gap to FBIL's published curve, in basis points (lower is better)</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7223760" cy="914400"/>
        </p:xfrm>
        <a:graphic>
          <a:graphicData uri="http://schemas.openxmlformats.org/drawingml/2006/table">
            <a:tbl>
              <a:tblPr/>
              <a:tblGrid>
                <a:gridCol w="3749040"/>
                <a:gridCol w="1737360"/>
                <a:gridCol w="1737360"/>
              </a:tblGrid>
              <a:tr h="26517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Curve compared · date · tenors</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Exact fit (Part A)</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Smoothed fit (Part B)</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265176">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Zero curve · 11 Sep (held out) · all 200 tenors</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6.38</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b="1" dirty="0">
                          <a:solidFill>
                            <a:srgbClr val="0F2A33"/>
                          </a:solidFill>
                          <a:latin typeface="Calibri" pitchFamily="34" charset="0"/>
                          <a:ea typeface="Calibri" pitchFamily="34" charset="-122"/>
                          <a:cs typeface="Calibri" pitchFamily="34" charset="-120"/>
                        </a:rPr>
                        <a:t>1.75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65176">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Zero curve · 11 Sep · up to 14 years</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b="1" dirty="0">
                          <a:solidFill>
                            <a:srgbClr val="0F2A33"/>
                          </a:solidFill>
                          <a:latin typeface="Calibri" pitchFamily="34" charset="0"/>
                          <a:ea typeface="Calibri" pitchFamily="34" charset="-122"/>
                          <a:cs typeface="Calibri" pitchFamily="34" charset="-120"/>
                        </a:rPr>
                        <a:t>1.21</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65176">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Zero curve · 11 Sep · beyond 14 years</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8.39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b="1" dirty="0">
                          <a:solidFill>
                            <a:srgbClr val="0F2A33"/>
                          </a:solidFill>
                          <a:latin typeface="Calibri" pitchFamily="34" charset="0"/>
                          <a:ea typeface="Calibri" pitchFamily="34" charset="-122"/>
                          <a:cs typeface="Calibri" pitchFamily="34" charset="-120"/>
                        </a:rPr>
                        <a:t>1.65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65176">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Zero curve · average of 5 dates · up to 14 years</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b="1" dirty="0">
                          <a:solidFill>
                            <a:srgbClr val="0F2A33"/>
                          </a:solidFill>
                          <a:latin typeface="Calibri" pitchFamily="34" charset="0"/>
                          <a:ea typeface="Calibri" pitchFamily="34" charset="-122"/>
                          <a:cs typeface="Calibri" pitchFamily="34" charset="-120"/>
                        </a:rPr>
                        <a:t>1.15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1.71</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65176">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Zero curve · average of 5 dates · beyond 14 years</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7.49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b="1" dirty="0">
                          <a:solidFill>
                            <a:srgbClr val="0F2A33"/>
                          </a:solidFill>
                          <a:latin typeface="Calibri" pitchFamily="34" charset="0"/>
                          <a:ea typeface="Calibri" pitchFamily="34" charset="-122"/>
                          <a:cs typeface="Calibri" pitchFamily="34" charset="-120"/>
                        </a:rPr>
                        <a:t>2.97</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65176">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Par curve · average of 5 dates · all 200 tenors</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1.49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b="1" dirty="0">
                          <a:solidFill>
                            <a:srgbClr val="0F2A33"/>
                          </a:solidFill>
                          <a:latin typeface="Calibri" pitchFamily="34" charset="0"/>
                          <a:ea typeface="Calibri" pitchFamily="34" charset="-122"/>
                          <a:cs typeface="Calibri" pitchFamily="34" charset="-120"/>
                        </a:rPr>
                        <a:t>0.94</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
        <p:nvSpPr>
          <p:cNvPr id="9" name="Text 5"/>
          <p:cNvSpPr txBox="1"/>
          <p:nvPr/>
        </p:nvSpPr>
        <p:spPr>
          <a:xfrm>
            <a:off x="548640" y="6597396"/>
            <a:ext cx="7223760" cy="228600"/>
          </a:xfrm>
          <a:prstGeom prst="rect">
            <a:avLst/>
          </a:prstGeom>
          <a:noFill/>
          <a:ln/>
        </p:spPr>
        <p:txBody>
          <a:bodyPr wrap="square" lIns="0" tIns="0" rIns="0" bIns="0" rtlCol="0" anchor="t"/>
          <a:lstStyle/>
          <a:p>
            <a:pPr indent="0" marL="0">
              <a:buNone/>
            </a:pPr>
            <a:r>
              <a:rPr lang="en-US" sz="1050" dirty="0">
                <a:solidFill>
                  <a:srgbClr val="55666E"/>
                </a:solidFill>
                <a:latin typeface="Calibri" pitchFamily="34" charset="0"/>
                <a:ea typeface="Calibri" pitchFamily="34" charset="-122"/>
                <a:cs typeface="Calibri" pitchFamily="34" charset="-120"/>
              </a:rPr>
              <a:t>Bold = the better (smaller) value in each row. Held out: 11 Sep was not used to choose the smoothing settings.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C  ·  STEP 2</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Leave-one-out test: accuracy without using FBIL's curve</a:t>
            </a:r>
            <a:endParaRPr lang="en-US" sz="2800" dirty="0"/>
          </a:p>
        </p:txBody>
      </p:sp>
      <p:pic>
        <p:nvPicPr>
          <p:cNvPr id="4" name="Image 0" descr="/home/claude/final2/ZCYC_MiniProject_Bande_Yashas_Shubham_Aastha_Mansoor/additional_material/outputs/charts/11_holdout.png">    </p:cNvPr>
          <p:cNvPicPr>
            <a:picLocks noChangeAspect="1"/>
          </p:cNvPicPr>
          <p:nvPr/>
        </p:nvPicPr>
        <p:blipFill>
          <a:blip r:embed="rId1"/>
          <a:stretch>
            <a:fillRect/>
          </a:stretch>
        </p:blipFill>
        <p:spPr>
          <a:xfrm>
            <a:off x="548640" y="1325880"/>
            <a:ext cx="7223760" cy="3467405"/>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Each dot is one input bond on one date. The bond was removed, the curve refitted from the other bonds, and the bond priced from that curve</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y-axis: model YTM minus the bond's published YTM (bp). The first and last bond on each date are excluded (their removal would need extrapolation)</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129 hold-outs over five dates. Average miss: smoothed 2.45 bp, exact 3.90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Up to 14 years: 2.50 vs 4.16 bp. Beyond: 2.36 vs 3.50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largest exact-fit misses are around 19–20 years, where neighbouring bonds are far apart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Against FBIL the exact fit wins up to 14 years; at predicting a missing bond it does not</a:t>
            </a:r>
            <a:endParaRPr lang="en-US" sz="1250" dirty="0"/>
          </a:p>
        </p:txBody>
      </p:sp>
      <p:sp>
        <p:nvSpPr>
          <p:cNvPr id="7" name="Shape 4"/>
          <p:cNvSpPr/>
          <p:nvPr/>
        </p:nvSpPr>
        <p:spPr>
          <a:xfrm>
            <a:off x="548640" y="4976165"/>
            <a:ext cx="7223760" cy="1516075"/>
          </a:xfrm>
          <a:prstGeom prst="roundRect">
            <a:avLst>
              <a:gd name="adj" fmla="val 4825"/>
            </a:avLst>
          </a:prstGeom>
          <a:solidFill>
            <a:srgbClr val="FDF3E3"/>
          </a:solidFill>
          <a:ln w="12700">
            <a:solidFill>
              <a:srgbClr val="FDF3E3"/>
            </a:solidFill>
            <a:prstDash val="solid"/>
          </a:ln>
        </p:spPr>
      </p:sp>
      <p:sp>
        <p:nvSpPr>
          <p:cNvPr id="8" name="Text 5"/>
          <p:cNvSpPr txBox="1"/>
          <p:nvPr/>
        </p:nvSpPr>
        <p:spPr>
          <a:xfrm>
            <a:off x="777240" y="5113325"/>
            <a:ext cx="6766560" cy="1287475"/>
          </a:xfrm>
          <a:prstGeom prst="rect">
            <a:avLst/>
          </a:prstGeom>
          <a:noFill/>
          <a:ln/>
        </p:spPr>
        <p:txBody>
          <a:bodyPr wrap="square" lIns="0" tIns="0" rIns="0" bIns="0" rtlCol="0" anchor="ctr"/>
          <a:lstStyle/>
          <a:p>
            <a:pPr indent="0" marL="0">
              <a:spcAft>
                <a:spcPts val="600"/>
              </a:spcAft>
              <a:buNone/>
            </a:pPr>
            <a:r>
              <a:rPr lang="en-US" sz="1400" dirty="0">
                <a:solidFill>
                  <a:srgbClr val="0F2A33"/>
                </a:solidFill>
                <a:latin typeface="Calibri" pitchFamily="34" charset="0"/>
                <a:ea typeface="Calibri" pitchFamily="34" charset="-122"/>
                <a:cs typeface="Calibri" pitchFamily="34" charset="-120"/>
              </a:rPr>
              <a:t>This test needs no benchmark. The smoothed fit predicts better both inside and beyond 14 years, so smoothing improves the curve itself, not just its match to FBIL. We submit the smoothed fit.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C  ·  STEP 3</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Why both curves still differ from FBIL's</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011680"/>
                <a:gridCol w="6949440"/>
                <a:gridCol w="2130552"/>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Factor</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Affects</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868680">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Methodology</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FBIL fits approximately with a smoothing step it does not publish, and selects inputs from trade counts and volumes we cannot see. We use FBIL's flagged inputs; 7 of 26 are FBIL proxy yields, not trades.</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Both curves</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Data accuracy</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FBIL rounds zero rates to 2 decimals (±0.5 bp). T-bill rates were copied by hand; the 6M rate is 1 bp below FBIL's curve on 3 dates.</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Both curves, under 1 bp</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Interpolation</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Changing what is splined or the end condition does not fix the exact fit's long end (next slide). The curvature penalty does.</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Mainly the exact fit</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Sparse long end</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16 input bonds lie within 14 years and 10 cover the other 36, with gaps of 7.2, 7.6, 9.7 years.</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Mainly the exact fit</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731520">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Short-end flattening</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No input bond between the 1-year T-bill and 2.6 years; the penalty flattens the curve there.</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300" dirty="0">
                          <a:solidFill>
                            <a:srgbClr val="0F2A33"/>
                          </a:solidFill>
                          <a:latin typeface="Calibri" pitchFamily="34" charset="0"/>
                          <a:ea typeface="Calibri" pitchFamily="34" charset="-122"/>
                          <a:cs typeface="Calibri" pitchFamily="34" charset="-120"/>
                        </a:rPr>
                        <a:t>Mainly the smoothed fit</a:t>
                      </a:r>
                      <a:endParaRPr lang="en-US" sz="13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PART C  ·  STEP 4</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Alternatives tested on the exact fit</a:t>
            </a:r>
            <a:endParaRPr lang="en-US" sz="2800" dirty="0"/>
          </a:p>
        </p:txBody>
      </p:sp>
      <p:pic>
        <p:nvPicPr>
          <p:cNvPr id="4" name="Image 0" descr="/home/claude/final2/ZCYC_MiniProject_Bande_Yashas_Shubham_Aastha_Mansoor/additional_material/outputs/charts/03_variants.png">    </p:cNvPr>
          <p:cNvPicPr>
            <a:picLocks noChangeAspect="1"/>
          </p:cNvPicPr>
          <p:nvPr/>
        </p:nvPicPr>
        <p:blipFill>
          <a:blip r:embed="rId1"/>
          <a:stretch>
            <a:fillRect/>
          </a:stretch>
        </p:blipFill>
        <p:spPr>
          <a:xfrm>
            <a:off x="548640" y="1325880"/>
            <a:ext cx="6191250" cy="2971800"/>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Each line is one variant's zero rate minus FBIL's (bp), 11 September</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V1 is the exact fit used above. V2 lies almost on top of V1. V6 is off the scale and appears only in the table</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Dropping the 3M T-bill (V2) is slightly worse up to 14 years, which supports FBIL v6 adding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Splining the discount factor (V3) or the forward rate (V6) is worse, the forward spline badly so</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 not-a-knot end (V4) makes the 50-year end swing by over 70 bp</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Our own rule-based bond selection (V5) helps beyond 14 years but hurts the short end: published yields of non-traded bonds include FBIL's liquidity adjustment</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7223760" cy="914400"/>
        </p:xfrm>
        <a:graphic>
          <a:graphicData uri="http://schemas.openxmlformats.org/drawingml/2006/table">
            <a:tbl>
              <a:tblPr/>
              <a:tblGrid>
                <a:gridCol w="3931920"/>
                <a:gridCol w="1097280"/>
                <a:gridCol w="1097280"/>
                <a:gridCol w="1097280"/>
              </a:tblGrid>
              <a:tr h="23774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Variant</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≤14y</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&gt;14y</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Worst</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237744">
                <a:tc>
                  <a:txBody>
                    <a:bodyPr/>
                    <a:lstStyle/>
                    <a:p>
                      <a:pPr algn="l" indent="0" marL="0">
                        <a:buNone/>
                      </a:pPr>
                      <a:r>
                        <a:rPr lang="en-US" sz="1050" dirty="0">
                          <a:solidFill>
                            <a:srgbClr val="0F2A33"/>
                          </a:solidFill>
                          <a:latin typeface="Calibri" pitchFamily="34" charset="0"/>
                          <a:ea typeface="Calibri" pitchFamily="34" charset="-122"/>
                          <a:cs typeface="Calibri" pitchFamily="34" charset="-120"/>
                        </a:rPr>
                        <a:t>V1 Exact fit (zero rate, natural)</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8.39</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24.1</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37744">
                <a:tc>
                  <a:txBody>
                    <a:bodyPr/>
                    <a:lstStyle/>
                    <a:p>
                      <a:pPr algn="l" indent="0" marL="0">
                        <a:buNone/>
                      </a:pPr>
                      <a:r>
                        <a:rPr lang="en-US" sz="1050" dirty="0">
                          <a:solidFill>
                            <a:srgbClr val="0F2A33"/>
                          </a:solidFill>
                          <a:latin typeface="Calibri" pitchFamily="34" charset="0"/>
                          <a:ea typeface="Calibri" pitchFamily="34" charset="-122"/>
                          <a:cs typeface="Calibri" pitchFamily="34" charset="-120"/>
                        </a:rPr>
                        <a:t>V2 Without 3M T-bill</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1.26</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8.40</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24.1</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37744">
                <a:tc>
                  <a:txBody>
                    <a:bodyPr/>
                    <a:lstStyle/>
                    <a:p>
                      <a:pPr algn="l" indent="0" marL="0">
                        <a:buNone/>
                      </a:pPr>
                      <a:r>
                        <a:rPr lang="en-US" sz="1050" dirty="0">
                          <a:solidFill>
                            <a:srgbClr val="0F2A33"/>
                          </a:solidFill>
                          <a:latin typeface="Calibri" pitchFamily="34" charset="0"/>
                          <a:ea typeface="Calibri" pitchFamily="34" charset="-122"/>
                          <a:cs typeface="Calibri" pitchFamily="34" charset="-120"/>
                        </a:rPr>
                        <a:t>V3 Spline on −ln DF</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1.80</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8.68</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25.9</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37744">
                <a:tc>
                  <a:txBody>
                    <a:bodyPr/>
                    <a:lstStyle/>
                    <a:p>
                      <a:pPr algn="l" indent="0" marL="0">
                        <a:buNone/>
                      </a:pPr>
                      <a:r>
                        <a:rPr lang="en-US" sz="1050" dirty="0">
                          <a:solidFill>
                            <a:srgbClr val="0F2A33"/>
                          </a:solidFill>
                          <a:latin typeface="Calibri" pitchFamily="34" charset="0"/>
                          <a:ea typeface="Calibri" pitchFamily="34" charset="-122"/>
                          <a:cs typeface="Calibri" pitchFamily="34" charset="-120"/>
                        </a:rPr>
                        <a:t>V4 Not-a-knot end</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14.32</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71.5</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37744">
                <a:tc>
                  <a:txBody>
                    <a:bodyPr/>
                    <a:lstStyle/>
                    <a:p>
                      <a:pPr algn="l" indent="0" marL="0">
                        <a:buNone/>
                      </a:pPr>
                      <a:r>
                        <a:rPr lang="en-US" sz="1050" dirty="0">
                          <a:solidFill>
                            <a:srgbClr val="0F2A33"/>
                          </a:solidFill>
                          <a:latin typeface="Calibri" pitchFamily="34" charset="0"/>
                          <a:ea typeface="Calibri" pitchFamily="34" charset="-122"/>
                          <a:cs typeface="Calibri" pitchFamily="34" charset="-120"/>
                        </a:rPr>
                        <a:t>V5 Own bond selection</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4.14</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4.94</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16.1</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37744">
                <a:tc>
                  <a:txBody>
                    <a:bodyPr/>
                    <a:lstStyle/>
                    <a:p>
                      <a:pPr algn="l" indent="0" marL="0">
                        <a:buNone/>
                      </a:pPr>
                      <a:r>
                        <a:rPr lang="en-US" sz="1050" dirty="0">
                          <a:solidFill>
                            <a:srgbClr val="0F2A33"/>
                          </a:solidFill>
                          <a:latin typeface="Calibri" pitchFamily="34" charset="0"/>
                          <a:ea typeface="Calibri" pitchFamily="34" charset="-122"/>
                          <a:cs typeface="Calibri" pitchFamily="34" charset="-120"/>
                        </a:rPr>
                        <a:t>V6 Spline on forward rate</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2.95</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73.38</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050" dirty="0">
                          <a:solidFill>
                            <a:srgbClr val="0F2A33"/>
                          </a:solidFill>
                          <a:latin typeface="Calibri" pitchFamily="34" charset="0"/>
                          <a:ea typeface="Calibri" pitchFamily="34" charset="-122"/>
                          <a:cs typeface="Calibri" pitchFamily="34" charset="-120"/>
                        </a:rPr>
                        <a:t>293.7</a:t>
                      </a:r>
                      <a:endParaRPr lang="en-US" sz="10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2286000"/>
            <a:ext cx="5486400" cy="365760"/>
          </a:xfrm>
          <a:prstGeom prst="rect">
            <a:avLst/>
          </a:prstGeom>
          <a:noFill/>
          <a:ln/>
        </p:spPr>
        <p:txBody>
          <a:bodyPr wrap="square" lIns="0" tIns="0" rIns="0" bIns="0" rtlCol="0" anchor="ctr"/>
          <a:lstStyle/>
          <a:p>
            <a:pPr indent="0" marL="0">
              <a:buNone/>
            </a:pPr>
            <a:r>
              <a:rPr lang="en-US" sz="1500" spc="200" kern="0" dirty="0">
                <a:solidFill>
                  <a:srgbClr val="E8A33D"/>
                </a:solidFill>
                <a:latin typeface="Calibri" pitchFamily="34" charset="0"/>
                <a:ea typeface="Calibri" pitchFamily="34" charset="-122"/>
                <a:cs typeface="Calibri" pitchFamily="34" charset="-120"/>
              </a:rPr>
              <a:t>TASK 4</a:t>
            </a:r>
            <a:endParaRPr lang="en-US" sz="1500" dirty="0"/>
          </a:p>
        </p:txBody>
      </p:sp>
      <p:sp>
        <p:nvSpPr>
          <p:cNvPr id="3" name="Text 1"/>
          <p:cNvSpPr txBox="1"/>
          <p:nvPr/>
        </p:nvSpPr>
        <p:spPr>
          <a:xfrm>
            <a:off x="548640" y="2697480"/>
            <a:ext cx="6583680" cy="13716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Bonus: Pricing STRIPS</a:t>
            </a:r>
            <a:endParaRPr lang="en-US" sz="4000" dirty="0"/>
          </a:p>
        </p:txBody>
      </p:sp>
      <p:sp>
        <p:nvSpPr>
          <p:cNvPr id="4" name="Text 2"/>
          <p:cNvSpPr txBox="1"/>
          <p:nvPr/>
        </p:nvSpPr>
        <p:spPr>
          <a:xfrm>
            <a:off x="7223760" y="2377440"/>
            <a:ext cx="4480560" cy="2743200"/>
          </a:xfrm>
          <a:prstGeom prst="rect">
            <a:avLst/>
          </a:prstGeom>
          <a:noFill/>
          <a:ln/>
        </p:spPr>
        <p:txBody>
          <a:bodyPr wrap="square" lIns="0" tIns="0" rIns="0" bIns="0" rtlCol="0" anchor="t"/>
          <a:lstStyle/>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1   The security and the procedure</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2   Results and a worked example</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3   The STRIP values</a:t>
            </a:r>
            <a:endParaRPr lang="en-US" sz="1500" dirty="0"/>
          </a:p>
          <a:p>
            <a:pPr indent="0" marL="0">
              <a:spcAft>
                <a:spcPts val="1000"/>
              </a:spcAft>
              <a:buNone/>
            </a:pPr>
            <a:r>
              <a:rPr lang="en-US" sz="1500" dirty="0">
                <a:solidFill>
                  <a:srgbClr val="BFDDE1"/>
                </a:solidFill>
                <a:latin typeface="Calibri" pitchFamily="34" charset="0"/>
                <a:ea typeface="Calibri" pitchFamily="34" charset="-122"/>
                <a:cs typeface="Calibri" pitchFamily="34" charset="-120"/>
              </a:rPr>
              <a:t>Step 4   Checks and findings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TASK 4  ·  STEP 1</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The security and the procedure</a:t>
            </a:r>
            <a:endParaRPr lang="en-US" sz="28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4937760" cy="914400"/>
        </p:xfrm>
        <a:graphic>
          <a:graphicData uri="http://schemas.openxmlformats.org/drawingml/2006/table">
            <a:tbl>
              <a:tblPr/>
              <a:tblGrid>
                <a:gridCol w="1463040"/>
                <a:gridCol w="34747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07.13 KL SGS 2058 (IN2020250089)</a:t>
                      </a: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0">
                <a:tc>
                  <a:txBody>
                    <a:bodyPr/>
                    <a:lstStyle/>
                    <a:p>
                      <a:pPr algn="l" indent="0" marL="0">
                        <a:buNone/>
                      </a:pPr>
                      <a:r>
                        <a:rPr lang="en-US" sz="1200" dirty="0">
                          <a:solidFill>
                            <a:srgbClr val="0F2A33"/>
                          </a:solidFill>
                          <a:latin typeface="Calibri" pitchFamily="34" charset="0"/>
                          <a:ea typeface="Calibri" pitchFamily="34" charset="-122"/>
                          <a:cs typeface="Calibri" pitchFamily="34" charset="-120"/>
                        </a:rPr>
                        <a:t>Maturity</a:t>
                      </a: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00" dirty="0">
                          <a:solidFill>
                            <a:srgbClr val="0F2A33"/>
                          </a:solidFill>
                          <a:latin typeface="Calibri" pitchFamily="34" charset="0"/>
                          <a:ea typeface="Calibri" pitchFamily="34" charset="-122"/>
                          <a:cs typeface="Calibri" pitchFamily="34" charset="-120"/>
                        </a:rPr>
                        <a:t>2 July 2058, 31.8 years from settlement (15 Sep 2026)</a:t>
                      </a: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0">
                <a:tc>
                  <a:txBody>
                    <a:bodyPr/>
                    <a:lstStyle/>
                    <a:p>
                      <a:pPr algn="l" indent="0" marL="0">
                        <a:buNone/>
                      </a:pPr>
                      <a:r>
                        <a:rPr lang="en-US" sz="1200" dirty="0">
                          <a:solidFill>
                            <a:srgbClr val="0F2A33"/>
                          </a:solidFill>
                          <a:latin typeface="Calibri" pitchFamily="34" charset="0"/>
                          <a:ea typeface="Calibri" pitchFamily="34" charset="-122"/>
                          <a:cs typeface="Calibri" pitchFamily="34" charset="-120"/>
                        </a:rPr>
                        <a:t>Why this bond</a:t>
                      </a: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00" dirty="0">
                          <a:solidFill>
                            <a:srgbClr val="0F2A33"/>
                          </a:solidFill>
                          <a:latin typeface="Calibri" pitchFamily="34" charset="0"/>
                          <a:ea typeface="Calibri" pitchFamily="34" charset="-122"/>
                          <a:cs typeface="Calibri" pitchFamily="34" charset="-120"/>
                        </a:rPr>
                        <a:t>The guidelines allow stripping of bonds paying on 2 Jan and 2 Jul. 23 of 5,438 SDLs qualify; this is the longest</a:t>
                      </a: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0">
                <a:tc>
                  <a:txBody>
                    <a:bodyPr/>
                    <a:lstStyle/>
                    <a:p>
                      <a:pPr algn="l" indent="0" marL="0">
                        <a:buNone/>
                      </a:pPr>
                      <a:r>
                        <a:rPr lang="en-US" sz="1200" dirty="0">
                          <a:solidFill>
                            <a:srgbClr val="0F2A33"/>
                          </a:solidFill>
                          <a:latin typeface="Calibri" pitchFamily="34" charset="0"/>
                          <a:ea typeface="Calibri" pitchFamily="34" charset="-122"/>
                          <a:cs typeface="Calibri" pitchFamily="34" charset="-120"/>
                        </a:rPr>
                        <a:t>Discount curve</a:t>
                      </a: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00" dirty="0">
                          <a:solidFill>
                            <a:srgbClr val="0F2A33"/>
                          </a:solidFill>
                          <a:latin typeface="Calibri" pitchFamily="34" charset="0"/>
                          <a:ea typeface="Calibri" pitchFamily="34" charset="-122"/>
                          <a:cs typeface="Calibri" pitchFamily="34" charset="-120"/>
                        </a:rPr>
                        <a:t>Our smoothed G-Sec ZCYC. FBIL's SDL curve ends at 14 years and cannot reach 2058</a:t>
                      </a:r>
                      <a:endParaRPr lang="en-US" sz="12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
        <p:nvSpPr>
          <p:cNvPr id="5" name="Shape 2"/>
          <p:cNvSpPr/>
          <p:nvPr/>
        </p:nvSpPr>
        <p:spPr>
          <a:xfrm>
            <a:off x="5806440" y="1371600"/>
            <a:ext cx="5836615" cy="1078992"/>
          </a:xfrm>
          <a:prstGeom prst="roundRect">
            <a:avLst>
              <a:gd name="adj" fmla="val 6780"/>
            </a:avLst>
          </a:prstGeom>
          <a:solidFill>
            <a:srgbClr val="E6F1F2"/>
          </a:solidFill>
          <a:ln w="12700">
            <a:solidFill>
              <a:srgbClr val="E6F1F2"/>
            </a:solidFill>
            <a:prstDash val="solid"/>
          </a:ln>
        </p:spPr>
      </p:sp>
      <p:sp>
        <p:nvSpPr>
          <p:cNvPr id="6" name="Shape 3"/>
          <p:cNvSpPr/>
          <p:nvPr/>
        </p:nvSpPr>
        <p:spPr>
          <a:xfrm>
            <a:off x="5989320" y="1673352"/>
            <a:ext cx="457200" cy="457200"/>
          </a:xfrm>
          <a:prstGeom prst="ellipse">
            <a:avLst/>
          </a:prstGeom>
          <a:solidFill>
            <a:srgbClr val="1B6F7A"/>
          </a:solidFill>
          <a:ln w="12700">
            <a:solidFill>
              <a:srgbClr val="1B6F7A"/>
            </a:solidFill>
            <a:prstDash val="solid"/>
          </a:ln>
        </p:spPr>
      </p:sp>
      <p:sp>
        <p:nvSpPr>
          <p:cNvPr id="7" name="Text 4"/>
          <p:cNvSpPr txBox="1"/>
          <p:nvPr/>
        </p:nvSpPr>
        <p:spPr>
          <a:xfrm>
            <a:off x="5989320" y="1673352"/>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5"/>
          <p:cNvSpPr txBox="1"/>
          <p:nvPr/>
        </p:nvSpPr>
        <p:spPr>
          <a:xfrm>
            <a:off x="6675120" y="1490472"/>
            <a:ext cx="4846320" cy="32004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Cash flows</a:t>
            </a:r>
            <a:endParaRPr lang="en-US" sz="1500" dirty="0"/>
          </a:p>
        </p:txBody>
      </p:sp>
      <p:sp>
        <p:nvSpPr>
          <p:cNvPr id="9" name="Text 6"/>
          <p:cNvSpPr txBox="1"/>
          <p:nvPr/>
        </p:nvSpPr>
        <p:spPr>
          <a:xfrm>
            <a:off x="6675120" y="1828800"/>
            <a:ext cx="4846320" cy="594360"/>
          </a:xfrm>
          <a:prstGeom prst="rect">
            <a:avLst/>
          </a:prstGeom>
          <a:noFill/>
          <a:ln/>
        </p:spPr>
        <p:txBody>
          <a:bodyPr wrap="square" lIns="0" tIns="0" rIns="0" bIns="0" rtlCol="0" anchor="t"/>
          <a:lstStyle/>
          <a:p>
            <a:pPr indent="0" marL="0">
              <a:buNone/>
            </a:pPr>
            <a:r>
              <a:rPr lang="en-US" sz="1200" dirty="0">
                <a:solidFill>
                  <a:srgbClr val="55666E"/>
                </a:solidFill>
                <a:latin typeface="Calibri" pitchFamily="34" charset="0"/>
                <a:ea typeface="Calibri" pitchFamily="34" charset="-122"/>
                <a:cs typeface="Calibri" pitchFamily="34" charset="-120"/>
              </a:rPr>
              <a:t>64 coupon STRIPS of 3.565 per ₹100 of the bond and one principal STRIP of 100. Each is a separate zero-coupon security.</a:t>
            </a:r>
            <a:endParaRPr lang="en-US" sz="1200" dirty="0"/>
          </a:p>
        </p:txBody>
      </p:sp>
      <p:sp>
        <p:nvSpPr>
          <p:cNvPr id="10" name="Shape 7"/>
          <p:cNvSpPr/>
          <p:nvPr/>
        </p:nvSpPr>
        <p:spPr>
          <a:xfrm>
            <a:off x="5806440" y="2587752"/>
            <a:ext cx="5836615" cy="1078992"/>
          </a:xfrm>
          <a:prstGeom prst="roundRect">
            <a:avLst>
              <a:gd name="adj" fmla="val 6780"/>
            </a:avLst>
          </a:prstGeom>
          <a:solidFill>
            <a:srgbClr val="F6FAFA"/>
          </a:solidFill>
          <a:ln w="12700">
            <a:solidFill>
              <a:srgbClr val="F6FAFA"/>
            </a:solidFill>
            <a:prstDash val="solid"/>
          </a:ln>
        </p:spPr>
      </p:sp>
      <p:sp>
        <p:nvSpPr>
          <p:cNvPr id="11" name="Shape 8"/>
          <p:cNvSpPr/>
          <p:nvPr/>
        </p:nvSpPr>
        <p:spPr>
          <a:xfrm>
            <a:off x="5989320" y="2889504"/>
            <a:ext cx="457200" cy="457200"/>
          </a:xfrm>
          <a:prstGeom prst="ellipse">
            <a:avLst/>
          </a:prstGeom>
          <a:solidFill>
            <a:srgbClr val="1B6F7A"/>
          </a:solidFill>
          <a:ln w="12700">
            <a:solidFill>
              <a:srgbClr val="1B6F7A"/>
            </a:solidFill>
            <a:prstDash val="solid"/>
          </a:ln>
        </p:spPr>
      </p:sp>
      <p:sp>
        <p:nvSpPr>
          <p:cNvPr id="12" name="Text 9"/>
          <p:cNvSpPr txBox="1"/>
          <p:nvPr/>
        </p:nvSpPr>
        <p:spPr>
          <a:xfrm>
            <a:off x="5989320" y="2889504"/>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0"/>
          <p:cNvSpPr txBox="1"/>
          <p:nvPr/>
        </p:nvSpPr>
        <p:spPr>
          <a:xfrm>
            <a:off x="6675120" y="2706624"/>
            <a:ext cx="4846320" cy="32004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Present value</a:t>
            </a:r>
            <a:endParaRPr lang="en-US" sz="1500" dirty="0"/>
          </a:p>
        </p:txBody>
      </p:sp>
      <p:sp>
        <p:nvSpPr>
          <p:cNvPr id="14" name="Text 11"/>
          <p:cNvSpPr txBox="1"/>
          <p:nvPr/>
        </p:nvSpPr>
        <p:spPr>
          <a:xfrm>
            <a:off x="6675120" y="3044952"/>
            <a:ext cx="4846320" cy="594360"/>
          </a:xfrm>
          <a:prstGeom prst="rect">
            <a:avLst/>
          </a:prstGeom>
          <a:noFill/>
          <a:ln/>
        </p:spPr>
        <p:txBody>
          <a:bodyPr wrap="square" lIns="0" tIns="0" rIns="0" bIns="0" rtlCol="0" anchor="t"/>
          <a:lstStyle/>
          <a:p>
            <a:pPr indent="0" marL="0">
              <a:buNone/>
            </a:pPr>
            <a:r>
              <a:rPr lang="en-US" sz="1200" dirty="0">
                <a:solidFill>
                  <a:srgbClr val="55666E"/>
                </a:solidFill>
                <a:latin typeface="Calibri" pitchFamily="34" charset="0"/>
                <a:ea typeface="Calibri" pitchFamily="34" charset="-122"/>
                <a:cs typeface="Calibri" pitchFamily="34" charset="-120"/>
              </a:rPr>
              <a:t>PV = cash flow × DF(t), with t in actual days / 365.25 from settlement and DF from our curve.</a:t>
            </a:r>
            <a:endParaRPr lang="en-US" sz="1200" dirty="0"/>
          </a:p>
        </p:txBody>
      </p:sp>
      <p:sp>
        <p:nvSpPr>
          <p:cNvPr id="15" name="Shape 12"/>
          <p:cNvSpPr/>
          <p:nvPr/>
        </p:nvSpPr>
        <p:spPr>
          <a:xfrm>
            <a:off x="5806440" y="3803904"/>
            <a:ext cx="5836615" cy="1078992"/>
          </a:xfrm>
          <a:prstGeom prst="roundRect">
            <a:avLst>
              <a:gd name="adj" fmla="val 6780"/>
            </a:avLst>
          </a:prstGeom>
          <a:solidFill>
            <a:srgbClr val="E6F1F2"/>
          </a:solidFill>
          <a:ln w="12700">
            <a:solidFill>
              <a:srgbClr val="E6F1F2"/>
            </a:solidFill>
            <a:prstDash val="solid"/>
          </a:ln>
        </p:spPr>
      </p:sp>
      <p:sp>
        <p:nvSpPr>
          <p:cNvPr id="16" name="Shape 13"/>
          <p:cNvSpPr/>
          <p:nvPr/>
        </p:nvSpPr>
        <p:spPr>
          <a:xfrm>
            <a:off x="5989320" y="4105656"/>
            <a:ext cx="457200" cy="457200"/>
          </a:xfrm>
          <a:prstGeom prst="ellipse">
            <a:avLst/>
          </a:prstGeom>
          <a:solidFill>
            <a:srgbClr val="1B6F7A"/>
          </a:solidFill>
          <a:ln w="12700">
            <a:solidFill>
              <a:srgbClr val="1B6F7A"/>
            </a:solidFill>
            <a:prstDash val="solid"/>
          </a:ln>
        </p:spPr>
      </p:sp>
      <p:sp>
        <p:nvSpPr>
          <p:cNvPr id="17" name="Text 14"/>
          <p:cNvSpPr txBox="1"/>
          <p:nvPr/>
        </p:nvSpPr>
        <p:spPr>
          <a:xfrm>
            <a:off x="5989320" y="4105656"/>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8" name="Text 15"/>
          <p:cNvSpPr txBox="1"/>
          <p:nvPr/>
        </p:nvSpPr>
        <p:spPr>
          <a:xfrm>
            <a:off x="6675120" y="3922776"/>
            <a:ext cx="4846320" cy="32004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Normalise (para 15.2)</a:t>
            </a:r>
            <a:endParaRPr lang="en-US" sz="1500" dirty="0"/>
          </a:p>
        </p:txBody>
      </p:sp>
      <p:sp>
        <p:nvSpPr>
          <p:cNvPr id="19" name="Text 16"/>
          <p:cNvSpPr txBox="1"/>
          <p:nvPr/>
        </p:nvSpPr>
        <p:spPr>
          <a:xfrm>
            <a:off x="6675120" y="4261104"/>
            <a:ext cx="4846320" cy="594360"/>
          </a:xfrm>
          <a:prstGeom prst="rect">
            <a:avLst/>
          </a:prstGeom>
          <a:noFill/>
          <a:ln/>
        </p:spPr>
        <p:txBody>
          <a:bodyPr wrap="square" lIns="0" tIns="0" rIns="0" bIns="0" rtlCol="0" anchor="t"/>
          <a:lstStyle/>
          <a:p>
            <a:pPr indent="0" marL="0">
              <a:buNone/>
            </a:pPr>
            <a:r>
              <a:rPr lang="en-US" sz="1200" dirty="0">
                <a:solidFill>
                  <a:srgbClr val="55666E"/>
                </a:solidFill>
                <a:latin typeface="Calibri" pitchFamily="34" charset="0"/>
                <a:ea typeface="Calibri" pitchFamily="34" charset="-122"/>
                <a:cs typeface="Calibri" pitchFamily="34" charset="-120"/>
              </a:rPr>
              <a:t>Factor = min(book, market value) ÷ ΣPV, so the STRIPS add up exactly to the bond and stripping creates no profit or loss.</a:t>
            </a:r>
            <a:endParaRPr lang="en-US" sz="1200" dirty="0"/>
          </a:p>
        </p:txBody>
      </p:sp>
      <p:sp>
        <p:nvSpPr>
          <p:cNvPr id="20" name="Shape 17"/>
          <p:cNvSpPr/>
          <p:nvPr/>
        </p:nvSpPr>
        <p:spPr>
          <a:xfrm>
            <a:off x="5806440" y="5020056"/>
            <a:ext cx="5836615" cy="1078992"/>
          </a:xfrm>
          <a:prstGeom prst="roundRect">
            <a:avLst>
              <a:gd name="adj" fmla="val 6780"/>
            </a:avLst>
          </a:prstGeom>
          <a:solidFill>
            <a:srgbClr val="F6FAFA"/>
          </a:solidFill>
          <a:ln w="12700">
            <a:solidFill>
              <a:srgbClr val="F6FAFA"/>
            </a:solidFill>
            <a:prstDash val="solid"/>
          </a:ln>
        </p:spPr>
      </p:sp>
      <p:sp>
        <p:nvSpPr>
          <p:cNvPr id="21" name="Shape 18"/>
          <p:cNvSpPr/>
          <p:nvPr/>
        </p:nvSpPr>
        <p:spPr>
          <a:xfrm>
            <a:off x="5989320" y="5321808"/>
            <a:ext cx="457200" cy="457200"/>
          </a:xfrm>
          <a:prstGeom prst="ellipse">
            <a:avLst/>
          </a:prstGeom>
          <a:solidFill>
            <a:srgbClr val="1B6F7A"/>
          </a:solidFill>
          <a:ln w="12700">
            <a:solidFill>
              <a:srgbClr val="1B6F7A"/>
            </a:solidFill>
            <a:prstDash val="solid"/>
          </a:ln>
        </p:spPr>
      </p:sp>
      <p:sp>
        <p:nvSpPr>
          <p:cNvPr id="22" name="Text 19"/>
          <p:cNvSpPr txBox="1"/>
          <p:nvPr/>
        </p:nvSpPr>
        <p:spPr>
          <a:xfrm>
            <a:off x="5989320" y="5321808"/>
            <a:ext cx="4572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3" name="Text 20"/>
          <p:cNvSpPr txBox="1"/>
          <p:nvPr/>
        </p:nvSpPr>
        <p:spPr>
          <a:xfrm>
            <a:off x="6675120" y="5138928"/>
            <a:ext cx="4846320" cy="32004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Per STRIP</a:t>
            </a:r>
            <a:endParaRPr lang="en-US" sz="1500" dirty="0"/>
          </a:p>
        </p:txBody>
      </p:sp>
      <p:sp>
        <p:nvSpPr>
          <p:cNvPr id="24" name="Text 21"/>
          <p:cNvSpPr txBox="1"/>
          <p:nvPr/>
        </p:nvSpPr>
        <p:spPr>
          <a:xfrm>
            <a:off x="6675120" y="5477256"/>
            <a:ext cx="4846320" cy="594360"/>
          </a:xfrm>
          <a:prstGeom prst="rect">
            <a:avLst/>
          </a:prstGeom>
          <a:noFill/>
          <a:ln/>
        </p:spPr>
        <p:txBody>
          <a:bodyPr wrap="square" lIns="0" tIns="0" rIns="0" bIns="0" rtlCol="0" anchor="t"/>
          <a:lstStyle/>
          <a:p>
            <a:pPr indent="0" marL="0">
              <a:buNone/>
            </a:pPr>
            <a:r>
              <a:rPr lang="en-US" sz="1200" dirty="0">
                <a:solidFill>
                  <a:srgbClr val="55666E"/>
                </a:solidFill>
                <a:latin typeface="Calibri" pitchFamily="34" charset="0"/>
                <a:ea typeface="Calibri" pitchFamily="34" charset="-122"/>
                <a:cs typeface="Calibri" pitchFamily="34" charset="-120"/>
              </a:rPr>
              <a:t>Price per ₹100 face, implied yield, and the face amount created per ₹1 crore of the bond.</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TASK 4  ·  STEP 2</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Results and a worked example</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577840" cy="914400"/>
        </p:xfrm>
        <a:graphic>
          <a:graphicData uri="http://schemas.openxmlformats.org/drawingml/2006/table">
            <a:tbl>
              <a:tblPr/>
              <a:tblGrid>
                <a:gridCol w="3108960"/>
                <a:gridCol w="2468880"/>
              </a:tblGrid>
              <a:tr h="50292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Item</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Value</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Clean price / accrued interest</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dirty="0">
                          <a:solidFill>
                            <a:srgbClr val="0F2A33"/>
                          </a:solidFill>
                          <a:latin typeface="Calibri" pitchFamily="34" charset="0"/>
                          <a:ea typeface="Calibri" pitchFamily="34" charset="-122"/>
                          <a:cs typeface="Calibri" pitchFamily="34" charset="-120"/>
                        </a:rPr>
                        <a:t>91.8326 / 1.4531</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Dirty price = market value</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b="1" dirty="0">
                          <a:solidFill>
                            <a:srgbClr val="0F2A33"/>
                          </a:solidFill>
                          <a:latin typeface="Calibri" pitchFamily="34" charset="0"/>
                          <a:ea typeface="Calibri" pitchFamily="34" charset="-122"/>
                          <a:cs typeface="Calibri" pitchFamily="34" charset="-120"/>
                        </a:rPr>
                        <a:t>93.2857</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Sum of PVs on our curve</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dirty="0">
                          <a:solidFill>
                            <a:srgbClr val="0F2A33"/>
                          </a:solidFill>
                          <a:latin typeface="Calibri" pitchFamily="34" charset="0"/>
                          <a:ea typeface="Calibri" pitchFamily="34" charset="-122"/>
                          <a:cs typeface="Calibri" pitchFamily="34" charset="-120"/>
                        </a:rPr>
                        <a:t>95.2256</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Normalisation factor</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b="1" dirty="0">
                          <a:solidFill>
                            <a:srgbClr val="0F2A33"/>
                          </a:solidFill>
                          <a:latin typeface="Calibri" pitchFamily="34" charset="0"/>
                          <a:ea typeface="Calibri" pitchFamily="34" charset="-122"/>
                          <a:cs typeface="Calibri" pitchFamily="34" charset="-120"/>
                        </a:rPr>
                        <a:t>0.97963</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Sum of normalised values</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dirty="0">
                          <a:solidFill>
                            <a:srgbClr val="0F2A33"/>
                          </a:solidFill>
                          <a:latin typeface="Calibri" pitchFamily="34" charset="0"/>
                          <a:ea typeface="Calibri" pitchFamily="34" charset="-122"/>
                          <a:cs typeface="Calibri" pitchFamily="34" charset="-120"/>
                        </a:rPr>
                        <a:t>93.2857 (= dirty price)</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STRIPS created</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dirty="0">
                          <a:solidFill>
                            <a:srgbClr val="0F2A33"/>
                          </a:solidFill>
                          <a:latin typeface="Calibri" pitchFamily="34" charset="0"/>
                          <a:ea typeface="Calibri" pitchFamily="34" charset="-122"/>
                          <a:cs typeface="Calibri" pitchFamily="34" charset="-120"/>
                        </a:rPr>
                        <a:t>64 coupon + 1 principal</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Principal STRIP price / yield</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dirty="0">
                          <a:solidFill>
                            <a:srgbClr val="0F2A33"/>
                          </a:solidFill>
                          <a:latin typeface="Calibri" pitchFamily="34" charset="0"/>
                          <a:ea typeface="Calibri" pitchFamily="34" charset="-122"/>
                          <a:cs typeface="Calibri" pitchFamily="34" charset="-120"/>
                        </a:rPr>
                        <a:t>7.5061 / 8.31%</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502920">
                <a:tc>
                  <a:txBody>
                    <a:bodyPr/>
                    <a:lstStyle/>
                    <a:p>
                      <a:pPr algn="l" indent="0" marL="0">
                        <a:buNone/>
                      </a:pPr>
                      <a:r>
                        <a:rPr lang="en-US" sz="1400" dirty="0">
                          <a:solidFill>
                            <a:srgbClr val="0F2A33"/>
                          </a:solidFill>
                          <a:latin typeface="Calibri" pitchFamily="34" charset="0"/>
                          <a:ea typeface="Calibri" pitchFamily="34" charset="-122"/>
                          <a:cs typeface="Calibri" pitchFamily="34" charset="-120"/>
                        </a:rPr>
                        <a:t>Principal STRIP share of value</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400" dirty="0">
                          <a:solidFill>
                            <a:srgbClr val="0F2A33"/>
                          </a:solidFill>
                          <a:latin typeface="Calibri" pitchFamily="34" charset="0"/>
                          <a:ea typeface="Calibri" pitchFamily="34" charset="-122"/>
                          <a:cs typeface="Calibri" pitchFamily="34" charset="-120"/>
                        </a:rPr>
                        <a:t>8.0%</a:t>
                      </a:r>
                      <a:endParaRPr lang="en-US" sz="14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
        <p:nvSpPr>
          <p:cNvPr id="5" name="Shape 2"/>
          <p:cNvSpPr/>
          <p:nvPr/>
        </p:nvSpPr>
        <p:spPr>
          <a:xfrm>
            <a:off x="6492240" y="1371600"/>
            <a:ext cx="5150815" cy="4846320"/>
          </a:xfrm>
          <a:prstGeom prst="roundRect">
            <a:avLst>
              <a:gd name="adj" fmla="val 1509"/>
            </a:avLst>
          </a:prstGeom>
          <a:solidFill>
            <a:srgbClr val="E6F1F2"/>
          </a:solidFill>
          <a:ln w="12700">
            <a:solidFill>
              <a:srgbClr val="E6F1F2"/>
            </a:solidFill>
            <a:prstDash val="solid"/>
          </a:ln>
        </p:spPr>
      </p:sp>
      <p:sp>
        <p:nvSpPr>
          <p:cNvPr id="6" name="Text 3"/>
          <p:cNvSpPr txBox="1"/>
          <p:nvPr/>
        </p:nvSpPr>
        <p:spPr>
          <a:xfrm>
            <a:off x="6720840" y="1554480"/>
            <a:ext cx="4754880" cy="365760"/>
          </a:xfrm>
          <a:prstGeom prst="rect">
            <a:avLst/>
          </a:prstGeom>
          <a:noFill/>
          <a:ln/>
        </p:spPr>
        <p:txBody>
          <a:bodyPr wrap="square" lIns="0" tIns="0" rIns="0" bIns="0" rtlCol="0" anchor="t"/>
          <a:lstStyle/>
          <a:p>
            <a:pPr indent="0" marL="0">
              <a:buNone/>
            </a:pPr>
            <a:r>
              <a:rPr lang="en-US" sz="1600" b="1" dirty="0">
                <a:solidFill>
                  <a:srgbClr val="0F2A33"/>
                </a:solidFill>
                <a:latin typeface="Cambria" pitchFamily="34" charset="0"/>
                <a:ea typeface="Cambria" pitchFamily="34" charset="-122"/>
                <a:cs typeface="Cambria" pitchFamily="34" charset="-120"/>
              </a:rPr>
              <a:t>First coupon STRIP, GS02JAN2027C</a:t>
            </a:r>
            <a:endParaRPr lang="en-US" sz="1600" dirty="0"/>
          </a:p>
        </p:txBody>
      </p:sp>
      <p:sp>
        <p:nvSpPr>
          <p:cNvPr id="7" name="Text 4"/>
          <p:cNvSpPr txBox="1"/>
          <p:nvPr/>
        </p:nvSpPr>
        <p:spPr>
          <a:xfrm>
            <a:off x="6720840" y="2057400"/>
            <a:ext cx="4846320" cy="2743200"/>
          </a:xfrm>
          <a:prstGeom prst="rect">
            <a:avLst/>
          </a:prstGeom>
          <a:noFill/>
          <a:ln/>
        </p:spPr>
        <p:txBody>
          <a:bodyPr wrap="square" lIns="0" tIns="0" rIns="0" bIns="0" rtlCol="0" anchor="t"/>
          <a:lstStyle/>
          <a:p>
            <a:pPr indent="0" marL="0">
              <a:buNone/>
            </a:pPr>
            <a:r>
              <a:rPr lang="en-US" sz="1350" dirty="0">
                <a:solidFill>
                  <a:srgbClr val="0F2A33"/>
                </a:solidFill>
                <a:latin typeface="Consolas" pitchFamily="34" charset="0"/>
                <a:ea typeface="Consolas" pitchFamily="34" charset="-122"/>
                <a:cs typeface="Consolas" pitchFamily="34" charset="-120"/>
              </a:rPr>
              <a:t>t          = 0.2984 years</a:t>
            </a:r>
            <a:endParaRPr lang="en-US" sz="1350" dirty="0"/>
          </a:p>
          <a:p>
            <a:pPr indent="0" marL="0">
              <a:buNone/>
            </a:pPr>
            <a:r>
              <a:rPr lang="en-US" sz="1350" dirty="0">
                <a:solidFill>
                  <a:srgbClr val="0F2A33"/>
                </a:solidFill>
                <a:latin typeface="Consolas" pitchFamily="34" charset="0"/>
                <a:ea typeface="Consolas" pitchFamily="34" charset="-122"/>
                <a:cs typeface="Consolas" pitchFamily="34" charset="-120"/>
              </a:rPr>
              <a:t>zero rate  = 5.271%  (our curve)</a:t>
            </a:r>
            <a:endParaRPr lang="en-US" sz="1350" dirty="0"/>
          </a:p>
          <a:p>
            <a:pPr indent="0" marL="0">
              <a:buNone/>
            </a:pPr>
            <a:r>
              <a:rPr lang="en-US" sz="1350" dirty="0">
                <a:solidFill>
                  <a:srgbClr val="0F2A33"/>
                </a:solidFill>
                <a:latin typeface="Consolas" pitchFamily="34" charset="0"/>
                <a:ea typeface="Consolas" pitchFamily="34" charset="-122"/>
                <a:cs typeface="Consolas" pitchFamily="34" charset="-120"/>
              </a:rPr>
              <a:t>DF         = (1 + 5.271/200)^(−2 × 0.2984)</a:t>
            </a:r>
            <a:endParaRPr lang="en-US" sz="1350" dirty="0"/>
          </a:p>
          <a:p>
            <a:pPr indent="0" marL="0">
              <a:buNone/>
            </a:pPr>
            <a:r>
              <a:rPr lang="en-US" sz="1350" dirty="0">
                <a:solidFill>
                  <a:srgbClr val="0F2A33"/>
                </a:solidFill>
                <a:latin typeface="Consolas" pitchFamily="34" charset="0"/>
                <a:ea typeface="Consolas" pitchFamily="34" charset="-122"/>
                <a:cs typeface="Consolas" pitchFamily="34" charset="-120"/>
              </a:rPr>
              <a:t>           = 0.98459</a:t>
            </a:r>
            <a:endParaRPr lang="en-US" sz="1350" dirty="0"/>
          </a:p>
          <a:p>
            <a:pPr indent="0" marL="0">
              <a:buNone/>
            </a:pPr>
            <a:r>
              <a:rPr lang="en-US" sz="1350" dirty="0">
                <a:solidFill>
                  <a:srgbClr val="0F2A33"/>
                </a:solidFill>
                <a:latin typeface="Consolas" pitchFamily="34" charset="0"/>
                <a:ea typeface="Consolas" pitchFamily="34" charset="-122"/>
                <a:cs typeface="Consolas" pitchFamily="34" charset="-120"/>
              </a:rPr>
              <a:t>PV         = 3.565 × 0.98459 = 3.5101</a:t>
            </a:r>
            <a:endParaRPr lang="en-US" sz="1350" dirty="0"/>
          </a:p>
          <a:p>
            <a:pPr indent="0" marL="0">
              <a:buNone/>
            </a:pPr>
            <a:r>
              <a:rPr lang="en-US" sz="1350" dirty="0">
                <a:solidFill>
                  <a:srgbClr val="0F2A33"/>
                </a:solidFill>
                <a:latin typeface="Consolas" pitchFamily="34" charset="0"/>
                <a:ea typeface="Consolas" pitchFamily="34" charset="-122"/>
                <a:cs typeface="Consolas" pitchFamily="34" charset="-120"/>
              </a:rPr>
              <a:t>normalised = 0.97963 × 3.5101 = 3.4386</a:t>
            </a:r>
            <a:endParaRPr lang="en-US" sz="1350" dirty="0"/>
          </a:p>
          <a:p>
            <a:pPr indent="0" marL="0">
              <a:buNone/>
            </a:pPr>
            <a:r>
              <a:rPr lang="en-US" sz="1350" dirty="0">
                <a:solidFill>
                  <a:srgbClr val="0F2A33"/>
                </a:solidFill>
                <a:latin typeface="Consolas" pitchFamily="34" charset="0"/>
                <a:ea typeface="Consolas" pitchFamily="34" charset="-122"/>
                <a:cs typeface="Consolas" pitchFamily="34" charset="-120"/>
              </a:rPr>
              <a:t>price      = 100 × 3.4386 / 3.565</a:t>
            </a:r>
            <a:endParaRPr lang="en-US" sz="1350" dirty="0"/>
          </a:p>
          <a:p>
            <a:pPr indent="0" marL="0">
              <a:buNone/>
            </a:pPr>
            <a:r>
              <a:rPr lang="en-US" sz="1350" dirty="0">
                <a:solidFill>
                  <a:srgbClr val="0F2A33"/>
                </a:solidFill>
                <a:latin typeface="Consolas" pitchFamily="34" charset="0"/>
                <a:ea typeface="Consolas" pitchFamily="34" charset="-122"/>
                <a:cs typeface="Consolas" pitchFamily="34" charset="-120"/>
              </a:rPr>
              <a:t>           = 96.4537 per ₹100 of STRIP face</a:t>
            </a:r>
            <a:endParaRPr lang="en-US" sz="1350" dirty="0"/>
          </a:p>
        </p:txBody>
      </p:sp>
      <p:sp>
        <p:nvSpPr>
          <p:cNvPr id="8" name="Text 5"/>
          <p:cNvSpPr txBox="1"/>
          <p:nvPr/>
        </p:nvSpPr>
        <p:spPr>
          <a:xfrm>
            <a:off x="6720840" y="5074920"/>
            <a:ext cx="4846320" cy="1005840"/>
          </a:xfrm>
          <a:prstGeom prst="rect">
            <a:avLst/>
          </a:prstGeom>
          <a:noFill/>
          <a:ln/>
        </p:spPr>
        <p:txBody>
          <a:bodyPr wrap="square" lIns="0" tIns="0" rIns="0" bIns="0" rtlCol="0" anchor="t"/>
          <a:lstStyle/>
          <a:p>
            <a:pPr indent="0" marL="0">
              <a:buNone/>
            </a:pPr>
            <a:r>
              <a:rPr lang="en-US" sz="1200" dirty="0">
                <a:solidFill>
                  <a:srgbClr val="55666E"/>
                </a:solidFill>
                <a:latin typeface="Calibri" pitchFamily="34" charset="0"/>
                <a:ea typeface="Calibri" pitchFamily="34" charset="-122"/>
                <a:cs typeface="Calibri" pitchFamily="34" charset="-120"/>
              </a:rPr>
              <a:t>All 65 rows are in strips_sdl2058_pricing.csv. Face created per ₹1 crore of the bond: ₹3,56,500 per coupon STRIP and ₹1 crore for the principal STRIP.</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TASK 4  ·  STEP 3</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The STRIP values</a:t>
            </a:r>
            <a:endParaRPr lang="en-US" sz="2800" dirty="0"/>
          </a:p>
        </p:txBody>
      </p:sp>
      <p:pic>
        <p:nvPicPr>
          <p:cNvPr id="4" name="Image 0" descr="/home/claude/final2/ZCYC_MiniProject_Bande_Yashas_Shubham_Aastha_Mansoor/additional_material/outputs/charts/05_strips_sdl2058.png">    </p:cNvPr>
          <p:cNvPicPr>
            <a:picLocks noChangeAspect="1"/>
          </p:cNvPicPr>
          <p:nvPr/>
        </p:nvPicPr>
        <p:blipFill>
          <a:blip r:embed="rId1"/>
          <a:stretch>
            <a:fillRect/>
          </a:stretch>
        </p:blipFill>
        <p:spPr>
          <a:xfrm>
            <a:off x="548640" y="1325880"/>
            <a:ext cx="7223760" cy="3017389"/>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Left: normalised value of each STRIP per ₹100 of the bond. Teal bars: the 64 coupon STRIPS; orange bar: the principal STRIP at 2058</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Right: price per ₹100 of STRIP face (navy, left axis) and implied yield (right axis). Orange: yield after the guidelines' normalisation. Teal dashed: an alternative we propose</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Coupon STRIP values fall from 3.44 to 0.27 as the discount period lengthens. Together they hold 92% of the bond's value; the principal STRIP holds 8.0%</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Prices fall from 96.5 to 7.51 per ₹100 face</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The orange yield starts at 12.5%: the factor cuts every STRIP by 2%, which on a 0.3-year STRIP is a large annual rate</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 constant 18.5 bp spread over our curve gives the same total value with a 5.5% short yield. This is our suggestion, not part of the guidelines</a:t>
            </a:r>
            <a:endParaRPr lang="en-US" sz="1250" dirty="0"/>
          </a:p>
        </p:txBody>
      </p:sp>
      <p:sp>
        <p:nvSpPr>
          <p:cNvPr id="7" name="Shape 4"/>
          <p:cNvSpPr/>
          <p:nvPr/>
        </p:nvSpPr>
        <p:spPr>
          <a:xfrm>
            <a:off x="548640" y="4526149"/>
            <a:ext cx="7223760" cy="1966091"/>
          </a:xfrm>
          <a:prstGeom prst="roundRect">
            <a:avLst>
              <a:gd name="adj" fmla="val 3721"/>
            </a:avLst>
          </a:prstGeom>
          <a:solidFill>
            <a:srgbClr val="FDF3E3"/>
          </a:solidFill>
          <a:ln w="12700">
            <a:solidFill>
              <a:srgbClr val="FDF3E3"/>
            </a:solidFill>
            <a:prstDash val="solid"/>
          </a:ln>
        </p:spPr>
      </p:sp>
      <p:sp>
        <p:nvSpPr>
          <p:cNvPr id="8" name="Text 5"/>
          <p:cNvSpPr txBox="1"/>
          <p:nvPr/>
        </p:nvSpPr>
        <p:spPr>
          <a:xfrm>
            <a:off x="777240" y="4663309"/>
            <a:ext cx="6766560" cy="1737491"/>
          </a:xfrm>
          <a:prstGeom prst="rect">
            <a:avLst/>
          </a:prstGeom>
          <a:noFill/>
          <a:ln/>
        </p:spPr>
        <p:txBody>
          <a:bodyPr wrap="square" lIns="0" tIns="0" rIns="0" bIns="0" rtlCol="0" anchor="ctr"/>
          <a:lstStyle/>
          <a:p>
            <a:pPr indent="0" marL="0">
              <a:spcAft>
                <a:spcPts val="600"/>
              </a:spcAft>
              <a:buNone/>
            </a:pPr>
            <a:r>
              <a:rPr lang="en-US" sz="1400" dirty="0">
                <a:solidFill>
                  <a:srgbClr val="0F2A33"/>
                </a:solidFill>
                <a:latin typeface="Calibri" pitchFamily="34" charset="0"/>
                <a:ea typeface="Calibri" pitchFamily="34" charset="-122"/>
                <a:cs typeface="Calibri" pitchFamily="34" charset="-120"/>
              </a:rPr>
              <a:t>Normalisation makes the 65 STRIPS add up to the bond's price exactly, but it spreads the 2% gap evenly over all of them. Short STRIPS end up with yields no market would quote; a spread over the curve would keep each STRIP consistent with it.</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TASK 4  ·  STEP 4</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Checks and findings</a:t>
            </a:r>
            <a:endParaRPr lang="en-US" sz="2800" dirty="0"/>
          </a:p>
        </p:txBody>
      </p:sp>
      <p:pic>
        <p:nvPicPr>
          <p:cNvPr id="4" name="Image 0" descr="/home/claude/final2/ZCYC_MiniProject_Bande_Yashas_Shubham_Aastha_Mansoor/additional_material/outputs/charts/09_strips_validation_multidate.png">    </p:cNvPr>
          <p:cNvPicPr>
            <a:picLocks noChangeAspect="1"/>
          </p:cNvPicPr>
          <p:nvPr/>
        </p:nvPicPr>
        <p:blipFill>
          <a:blip r:embed="rId1"/>
          <a:stretch>
            <a:fillRect/>
          </a:stretch>
        </p:blipFill>
        <p:spPr>
          <a:xfrm>
            <a:off x="548640" y="1325880"/>
            <a:ext cx="7223760" cy="3269702"/>
          </a:xfrm>
          <a:prstGeom prst="rect">
            <a:avLst/>
          </a:prstGeom>
        </p:spPr>
      </p:pic>
      <p:sp>
        <p:nvSpPr>
          <p:cNvPr id="5" name="Shape 2"/>
          <p:cNvSpPr/>
          <p:nvPr/>
        </p:nvSpPr>
        <p:spPr>
          <a:xfrm>
            <a:off x="8001000" y="1325880"/>
            <a:ext cx="3642055" cy="5166360"/>
          </a:xfrm>
          <a:prstGeom prst="roundRect">
            <a:avLst>
              <a:gd name="adj" fmla="val 2009"/>
            </a:avLst>
          </a:prstGeom>
          <a:solidFill>
            <a:srgbClr val="F6FAFA"/>
          </a:solidFill>
          <a:ln w="12700">
            <a:solidFill>
              <a:srgbClr val="F6FAFA"/>
            </a:solidFill>
            <a:prstDash val="solid"/>
          </a:ln>
        </p:spPr>
      </p:sp>
      <p:sp>
        <p:nvSpPr>
          <p:cNvPr id="6" name="Text 3"/>
          <p:cNvSpPr txBox="1"/>
          <p:nvPr/>
        </p:nvSpPr>
        <p:spPr>
          <a:xfrm>
            <a:off x="8211312" y="1481328"/>
            <a:ext cx="3230575" cy="4892040"/>
          </a:xfrm>
          <a:prstGeom prst="rect">
            <a:avLst/>
          </a:prstGeom>
          <a:noFill/>
          <a:ln/>
        </p:spPr>
        <p:txBody>
          <a:bodyPr wrap="square" lIns="0" tIns="0" rIns="0" bIns="0" rtlCol="0" anchor="t"/>
          <a:lstStyle/>
          <a:p>
            <a:pPr indent="0" marL="0">
              <a:spcAft>
                <a:spcPts val="400"/>
              </a:spcAft>
              <a:buNone/>
            </a:pPr>
            <a:r>
              <a:rPr lang="en-US" sz="1450" b="1" dirty="0">
                <a:solidFill>
                  <a:srgbClr val="1B6F7A"/>
                </a:solidFill>
                <a:latin typeface="Cambria" pitchFamily="34" charset="0"/>
                <a:ea typeface="Cambria" pitchFamily="34" charset="-122"/>
                <a:cs typeface="Cambria" pitchFamily="34" charset="-120"/>
              </a:rPr>
              <a:t>How to read it</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For each date, FBIL's ~1,595 published GOI STRIPS (6 months or more) are priced as 100 × DF from each curve</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Bar height: average price error in paise per ₹100 face. Navy: FBIL's own curve, used as a control</a:t>
            </a:r>
            <a:endParaRPr lang="en-US" sz="1250" dirty="0"/>
          </a:p>
          <a:p>
            <a:pPr indent="0" marL="0">
              <a:spcBef>
                <a:spcPts val="800"/>
              </a:spcBef>
              <a:spcAft>
                <a:spcPts val="400"/>
              </a:spcAft>
              <a:buNone/>
            </a:pPr>
            <a:r>
              <a:rPr lang="en-US" sz="1450" b="1" dirty="0">
                <a:solidFill>
                  <a:srgbClr val="1B6F7A"/>
                </a:solidFill>
                <a:latin typeface="Cambria" pitchFamily="34" charset="0"/>
                <a:ea typeface="Cambria" pitchFamily="34" charset="-122"/>
                <a:cs typeface="Cambria" pitchFamily="34" charset="-120"/>
              </a:rPr>
              <a:t>What it shows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FBIL's curve prices its own STRIPS to 1.0 paise, which confirms the pricing formula</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Our smoothed curve: 6.9 paise (2.2 bp in yield). Exact fit: 14.6 paise</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FBIL prices STRIPS from its ZCYC, so this repeats the curve comparison in price terms rather than testing against market trades</a:t>
            </a:r>
            <a:endParaRPr lang="en-US" sz="1250" dirty="0"/>
          </a:p>
          <a:p>
            <a:pPr marL="177800" indent="-177800">
              <a:spcAft>
                <a:spcPts val="500"/>
              </a:spcAft>
              <a:buSzPct val="100000"/>
              <a:buChar char="•"/>
            </a:pPr>
            <a:r>
              <a:rPr lang="en-US" sz="1250" dirty="0">
                <a:solidFill>
                  <a:srgbClr val="0F2A33"/>
                </a:solidFill>
                <a:latin typeface="Calibri" pitchFamily="34" charset="0"/>
                <a:ea typeface="Calibri" pitchFamily="34" charset="-122"/>
                <a:cs typeface="Calibri" pitchFamily="34" charset="-120"/>
              </a:rPr>
              <a:t>Annex 4 of the guidelines reproduced: ΣPV 127.87 (printed 127.87), factor 0.9384 (printed 0.9385)</a:t>
            </a:r>
            <a:endParaRPr lang="en-US" sz="12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4732742"/>
          <a:ext cx="7223760" cy="914400"/>
        </p:xfrm>
        <a:graphic>
          <a:graphicData uri="http://schemas.openxmlformats.org/drawingml/2006/table">
            <a:tbl>
              <a:tblPr/>
              <a:tblGrid>
                <a:gridCol w="3931920"/>
                <a:gridCol w="1645920"/>
                <a:gridCol w="1645920"/>
              </a:tblGrid>
              <a:tr h="27432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Discount curve</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Factor</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Principal STRIP</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27432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Our smoothed G-Sec curve</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0.9796</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7.5061</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7432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FBIL G-Sec curve</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0.9795</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7.4912</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7432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Our exact-fit curve</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0.9814</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7.2909</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274320">
                <a:tc>
                  <a:txBody>
                    <a:bodyPr/>
                    <a:lstStyle/>
                    <a:p>
                      <a:pPr algn="l" indent="0" marL="0">
                        <a:buNone/>
                      </a:pPr>
                      <a:r>
                        <a:rPr lang="en-US" sz="1100" dirty="0">
                          <a:solidFill>
                            <a:srgbClr val="0F2A33"/>
                          </a:solidFill>
                          <a:latin typeface="Calibri" pitchFamily="34" charset="0"/>
                          <a:ea typeface="Calibri" pitchFamily="34" charset="-122"/>
                          <a:cs typeface="Calibri" pitchFamily="34" charset="-120"/>
                        </a:rPr>
                        <a:t>SDL curve, 14y spread (50 bp) carried on</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1.0364</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r" indent="0" marL="0">
                        <a:buNone/>
                      </a:pPr>
                      <a:r>
                        <a:rPr lang="en-US" sz="1100" dirty="0">
                          <a:solidFill>
                            <a:srgbClr val="0F2A33"/>
                          </a:solidFill>
                          <a:latin typeface="Calibri" pitchFamily="34" charset="0"/>
                          <a:ea typeface="Calibri" pitchFamily="34" charset="-122"/>
                          <a:cs typeface="Calibri" pitchFamily="34" charset="-120"/>
                        </a:rPr>
                        <a:t>6.8102</a:t>
                      </a:r>
                      <a:endParaRPr lang="en-US" sz="110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ctr"/>
          <a:lstStyle/>
          <a:p>
            <a:pPr indent="0" marL="0">
              <a:buNone/>
            </a:pPr>
            <a:r>
              <a:rPr lang="en-US" sz="1200" b="1" spc="100" kern="0" dirty="0">
                <a:solidFill>
                  <a:srgbClr val="E8A33D"/>
                </a:solidFill>
                <a:latin typeface="Calibri" pitchFamily="34" charset="0"/>
                <a:ea typeface="Calibri" pitchFamily="34" charset="-122"/>
                <a:cs typeface="Calibri" pitchFamily="34" charset="-120"/>
              </a:rPr>
              <a:t>APPLICATION</a:t>
            </a:r>
            <a:endParaRPr lang="en-US" sz="1200" dirty="0"/>
          </a:p>
        </p:txBody>
      </p:sp>
      <p:sp>
        <p:nvSpPr>
          <p:cNvPr id="3" name="Text 1"/>
          <p:cNvSpPr txBox="1"/>
          <p:nvPr/>
        </p:nvSpPr>
        <p:spPr>
          <a:xfrm>
            <a:off x="548640" y="54864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Interactive app: any FBIL date</a:t>
            </a:r>
            <a:endParaRPr lang="en-US" sz="2800" dirty="0"/>
          </a:p>
        </p:txBody>
      </p:sp>
      <p:sp>
        <p:nvSpPr>
          <p:cNvPr id="4" name="Shape 2"/>
          <p:cNvSpPr/>
          <p:nvPr/>
        </p:nvSpPr>
        <p:spPr>
          <a:xfrm>
            <a:off x="548640" y="1280160"/>
            <a:ext cx="2622728" cy="2286000"/>
          </a:xfrm>
          <a:prstGeom prst="roundRect">
            <a:avLst>
              <a:gd name="adj" fmla="val 3200"/>
            </a:avLst>
          </a:prstGeom>
          <a:solidFill>
            <a:srgbClr val="E6F1F2"/>
          </a:solidFill>
          <a:ln w="12700">
            <a:solidFill>
              <a:srgbClr val="E6F1F2"/>
            </a:solidFill>
            <a:prstDash val="solid"/>
          </a:ln>
        </p:spPr>
      </p:sp>
      <p:sp>
        <p:nvSpPr>
          <p:cNvPr id="5" name="Shape 3"/>
          <p:cNvSpPr/>
          <p:nvPr/>
        </p:nvSpPr>
        <p:spPr>
          <a:xfrm>
            <a:off x="749808" y="1481328"/>
            <a:ext cx="420624" cy="420624"/>
          </a:xfrm>
          <a:prstGeom prst="ellipse">
            <a:avLst/>
          </a:prstGeom>
          <a:solidFill>
            <a:srgbClr val="1B6F7A"/>
          </a:solidFill>
          <a:ln w="12700">
            <a:solidFill>
              <a:srgbClr val="1B6F7A"/>
            </a:solidFill>
            <a:prstDash val="solid"/>
          </a:ln>
        </p:spPr>
      </p:sp>
      <p:sp>
        <p:nvSpPr>
          <p:cNvPr id="6" name="Text 4"/>
          <p:cNvSpPr txBox="1"/>
          <p:nvPr/>
        </p:nvSpPr>
        <p:spPr>
          <a:xfrm>
            <a:off x="749808" y="14813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49808" y="201168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Install and run</a:t>
            </a:r>
            <a:endParaRPr lang="en-US" sz="1500" dirty="0"/>
          </a:p>
        </p:txBody>
      </p:sp>
      <p:sp>
        <p:nvSpPr>
          <p:cNvPr id="8" name="Text 6"/>
          <p:cNvSpPr txBox="1"/>
          <p:nvPr/>
        </p:nvSpPr>
        <p:spPr>
          <a:xfrm>
            <a:off x="749808" y="2395728"/>
            <a:ext cx="2220392" cy="105156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Python 3.10 or newer, pip install -r requirements.txt, then streamlit run streamlit_app.py in the code folder.</a:t>
            </a:r>
            <a:endParaRPr lang="en-US" sz="1300" dirty="0"/>
          </a:p>
        </p:txBody>
      </p:sp>
      <p:sp>
        <p:nvSpPr>
          <p:cNvPr id="9" name="Shape 7"/>
          <p:cNvSpPr/>
          <p:nvPr/>
        </p:nvSpPr>
        <p:spPr>
          <a:xfrm>
            <a:off x="3372536" y="1280160"/>
            <a:ext cx="2622728" cy="2286000"/>
          </a:xfrm>
          <a:prstGeom prst="roundRect">
            <a:avLst>
              <a:gd name="adj" fmla="val 3200"/>
            </a:avLst>
          </a:prstGeom>
          <a:solidFill>
            <a:srgbClr val="F6FAFA"/>
          </a:solidFill>
          <a:ln w="12700">
            <a:solidFill>
              <a:srgbClr val="F6FAFA"/>
            </a:solidFill>
            <a:prstDash val="solid"/>
          </a:ln>
        </p:spPr>
      </p:sp>
      <p:sp>
        <p:nvSpPr>
          <p:cNvPr id="10" name="Shape 8"/>
          <p:cNvSpPr/>
          <p:nvPr/>
        </p:nvSpPr>
        <p:spPr>
          <a:xfrm>
            <a:off x="3573704" y="1481328"/>
            <a:ext cx="420624" cy="420624"/>
          </a:xfrm>
          <a:prstGeom prst="ellipse">
            <a:avLst/>
          </a:prstGeom>
          <a:solidFill>
            <a:srgbClr val="1B6F7A"/>
          </a:solidFill>
          <a:ln w="12700">
            <a:solidFill>
              <a:srgbClr val="1B6F7A"/>
            </a:solidFill>
            <a:prstDash val="solid"/>
          </a:ln>
        </p:spPr>
      </p:sp>
      <p:sp>
        <p:nvSpPr>
          <p:cNvPr id="11" name="Text 9"/>
          <p:cNvSpPr txBox="1"/>
          <p:nvPr/>
        </p:nvSpPr>
        <p:spPr>
          <a:xfrm>
            <a:off x="3573704" y="14813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573704" y="201168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Enter a date</a:t>
            </a:r>
            <a:endParaRPr lang="en-US" sz="1500" dirty="0"/>
          </a:p>
        </p:txBody>
      </p:sp>
      <p:sp>
        <p:nvSpPr>
          <p:cNvPr id="13" name="Text 11"/>
          <p:cNvSpPr txBox="1"/>
          <p:nvPr/>
        </p:nvSpPr>
        <p:spPr>
          <a:xfrm>
            <a:off x="3573704" y="2395728"/>
            <a:ext cx="2220392" cy="105156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Choose "Enter FBIL data for a new date", upload the G-Sec valuation file (.xls or .xlsx) and paste FBIL's T-bill rates. The date is read from the file.</a:t>
            </a:r>
            <a:endParaRPr lang="en-US" sz="1300" dirty="0"/>
          </a:p>
        </p:txBody>
      </p:sp>
      <p:sp>
        <p:nvSpPr>
          <p:cNvPr id="14" name="Shape 12"/>
          <p:cNvSpPr/>
          <p:nvPr/>
        </p:nvSpPr>
        <p:spPr>
          <a:xfrm>
            <a:off x="6196432" y="1280160"/>
            <a:ext cx="2622728" cy="2286000"/>
          </a:xfrm>
          <a:prstGeom prst="roundRect">
            <a:avLst>
              <a:gd name="adj" fmla="val 3200"/>
            </a:avLst>
          </a:prstGeom>
          <a:solidFill>
            <a:srgbClr val="E6F1F2"/>
          </a:solidFill>
          <a:ln w="12700">
            <a:solidFill>
              <a:srgbClr val="E6F1F2"/>
            </a:solidFill>
            <a:prstDash val="solid"/>
          </a:ln>
        </p:spPr>
      </p:sp>
      <p:sp>
        <p:nvSpPr>
          <p:cNvPr id="15" name="Shape 13"/>
          <p:cNvSpPr/>
          <p:nvPr/>
        </p:nvSpPr>
        <p:spPr>
          <a:xfrm>
            <a:off x="6397600" y="1481328"/>
            <a:ext cx="420624" cy="420624"/>
          </a:xfrm>
          <a:prstGeom prst="ellipse">
            <a:avLst/>
          </a:prstGeom>
          <a:solidFill>
            <a:srgbClr val="1B6F7A"/>
          </a:solidFill>
          <a:ln w="12700">
            <a:solidFill>
              <a:srgbClr val="1B6F7A"/>
            </a:solidFill>
            <a:prstDash val="solid"/>
          </a:ln>
        </p:spPr>
      </p:sp>
      <p:sp>
        <p:nvSpPr>
          <p:cNvPr id="16" name="Text 14"/>
          <p:cNvSpPr txBox="1"/>
          <p:nvPr/>
        </p:nvSpPr>
        <p:spPr>
          <a:xfrm>
            <a:off x="6397600" y="14813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397600" y="201168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Read the result</a:t>
            </a:r>
            <a:endParaRPr lang="en-US" sz="1500" dirty="0"/>
          </a:p>
        </p:txBody>
      </p:sp>
      <p:sp>
        <p:nvSpPr>
          <p:cNvPr id="18" name="Text 16"/>
          <p:cNvSpPr txBox="1"/>
          <p:nvPr/>
        </p:nvSpPr>
        <p:spPr>
          <a:xfrm>
            <a:off x="6397600" y="2395728"/>
            <a:ext cx="2220392" cy="105156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Zero and par curves, gap to FBIL, and STRIPS appear at once, using the same methodology as this project.</a:t>
            </a:r>
            <a:endParaRPr lang="en-US" sz="1300" dirty="0"/>
          </a:p>
        </p:txBody>
      </p:sp>
      <p:sp>
        <p:nvSpPr>
          <p:cNvPr id="19" name="Shape 17"/>
          <p:cNvSpPr/>
          <p:nvPr/>
        </p:nvSpPr>
        <p:spPr>
          <a:xfrm>
            <a:off x="9020327" y="1280160"/>
            <a:ext cx="2622728" cy="2286000"/>
          </a:xfrm>
          <a:prstGeom prst="roundRect">
            <a:avLst>
              <a:gd name="adj" fmla="val 3200"/>
            </a:avLst>
          </a:prstGeom>
          <a:solidFill>
            <a:srgbClr val="F6FAFA"/>
          </a:solidFill>
          <a:ln w="12700">
            <a:solidFill>
              <a:srgbClr val="F6FAFA"/>
            </a:solidFill>
            <a:prstDash val="solid"/>
          </a:ln>
        </p:spPr>
      </p:sp>
      <p:sp>
        <p:nvSpPr>
          <p:cNvPr id="20" name="Shape 18"/>
          <p:cNvSpPr/>
          <p:nvPr/>
        </p:nvSpPr>
        <p:spPr>
          <a:xfrm>
            <a:off x="9221495" y="1481328"/>
            <a:ext cx="420624" cy="420624"/>
          </a:xfrm>
          <a:prstGeom prst="ellipse">
            <a:avLst/>
          </a:prstGeom>
          <a:solidFill>
            <a:srgbClr val="1B6F7A"/>
          </a:solidFill>
          <a:ln w="12700">
            <a:solidFill>
              <a:srgbClr val="1B6F7A"/>
            </a:solidFill>
            <a:prstDash val="solid"/>
          </a:ln>
        </p:spPr>
      </p:sp>
      <p:sp>
        <p:nvSpPr>
          <p:cNvPr id="21" name="Text 19"/>
          <p:cNvSpPr txBox="1"/>
          <p:nvPr/>
        </p:nvSpPr>
        <p:spPr>
          <a:xfrm>
            <a:off x="9221495" y="1481328"/>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21495" y="2011680"/>
            <a:ext cx="2220392" cy="365760"/>
          </a:xfrm>
          <a:prstGeom prst="rect">
            <a:avLst/>
          </a:prstGeom>
          <a:noFill/>
          <a:ln/>
        </p:spPr>
        <p:txBody>
          <a:bodyPr wrap="square" lIns="0" tIns="0" rIns="0" bIns="0" rtlCol="0" anchor="t"/>
          <a:lstStyle/>
          <a:p>
            <a:pPr indent="0" marL="0">
              <a:buNone/>
            </a:pPr>
            <a:r>
              <a:rPr lang="en-US" sz="1500" b="1" dirty="0">
                <a:solidFill>
                  <a:srgbClr val="0F2A33"/>
                </a:solidFill>
                <a:latin typeface="Cambria" pitchFamily="34" charset="0"/>
                <a:ea typeface="Cambria" pitchFamily="34" charset="-122"/>
                <a:cs typeface="Cambria" pitchFamily="34" charset="-120"/>
              </a:rPr>
              <a:t>Adjust</a:t>
            </a:r>
            <a:endParaRPr lang="en-US" sz="1500" dirty="0"/>
          </a:p>
        </p:txBody>
      </p:sp>
      <p:sp>
        <p:nvSpPr>
          <p:cNvPr id="23" name="Text 21"/>
          <p:cNvSpPr txBox="1"/>
          <p:nvPr/>
        </p:nvSpPr>
        <p:spPr>
          <a:xfrm>
            <a:off x="9221495" y="2395728"/>
            <a:ext cx="2220392" cy="1051560"/>
          </a:xfrm>
          <a:prstGeom prst="rect">
            <a:avLst/>
          </a:prstGeom>
          <a:noFill/>
          <a:ln/>
        </p:spPr>
        <p:txBody>
          <a:bodyPr wrap="square" lIns="0" tIns="0" rIns="0" bIns="0" rtlCol="0" anchor="t"/>
          <a:lstStyle/>
          <a:p>
            <a:pPr indent="0" marL="0">
              <a:buNone/>
            </a:pPr>
            <a:r>
              <a:rPr lang="en-US" sz="1300" dirty="0">
                <a:solidFill>
                  <a:srgbClr val="55666E"/>
                </a:solidFill>
                <a:latin typeface="Calibri" pitchFamily="34" charset="0"/>
                <a:ea typeface="Calibri" pitchFamily="34" charset="-122"/>
                <a:cs typeface="Calibri" pitchFamily="34" charset="-120"/>
              </a:rPr>
              <a:t>Switch between exact and smoothed fit and move λ and the slope; the curve refits in about 0.2 seconds.</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3749040"/>
          <a:ext cx="11094415" cy="914400"/>
        </p:xfrm>
        <a:graphic>
          <a:graphicData uri="http://schemas.openxmlformats.org/drawingml/2006/table">
            <a:tbl>
              <a:tblPr/>
              <a:tblGrid>
                <a:gridCol w="3566160"/>
                <a:gridCol w="1371600"/>
                <a:gridCol w="6153912"/>
              </a:tblGrid>
              <a:tr h="36576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Input for the new date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Needed?</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gives</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solidFill>
                      <a:srgbClr val="1B6F7A"/>
                    </a:solidFill>
                  </a:tcPr>
                </a:tc>
              </a:tr>
              <a:tr h="365760">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FBIL G-Sec valuation file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Input bonds, prices and yields, FBIL's par curve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365760">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T-bill rates (pasted from FBIL's page)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Required</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The 7-day, 3M, 6M and 12M short-end knots</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365760">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FBIL ZCYC and STRIPS file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Optional</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Comparison with FBIL's zero curve: gap metrics, segment and date tabs</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365760">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FBIL SDL valuation file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Optional</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STRIPS of any SDL; without it, any strippable G-Sec can be stripped</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r h="365760">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Checks before use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Automatic</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c>
                  <a:txBody>
                    <a:bodyPr/>
                    <a:lstStyle/>
                    <a:p>
                      <a:pPr algn="l" indent="0" marL="0">
                        <a:buNone/>
                      </a:pPr>
                      <a:r>
                        <a:rPr lang="en-US" sz="1250" dirty="0">
                          <a:solidFill>
                            <a:srgbClr val="0F2A33"/>
                          </a:solidFill>
                          <a:latin typeface="Calibri" pitchFamily="34" charset="0"/>
                          <a:ea typeface="Calibri" pitchFamily="34" charset="-122"/>
                          <a:cs typeface="Calibri" pitchFamily="34" charset="-120"/>
                        </a:rPr>
                        <a:t>Dates agree across files, enough input bonds, FBIL's prices reproduce from its yields at some settlement date</a:t>
                      </a:r>
                      <a:endParaRPr lang="en-US" sz="1250" dirty="0">
                        <a:latin typeface="Calibri" charset="0"/>
                        <a:ea typeface="Calibri" charset="0"/>
                        <a:cs typeface="Calibri" charset="0"/>
                      </a:endParaRPr>
                    </a:p>
                  </a:txBody>
                  <a:tcPr marL="54864" marR="54864" marT="54864" marB="54864" anchor="ctr">
                    <a:lnL w="12700" cap="flat" cmpd="sng" algn="ctr">
                      <a:solidFill>
                        <a:srgbClr val="D5E3E5"/>
                      </a:solidFill>
                      <a:prstDash val="solid"/>
                      <a:round/>
                      <a:headEnd type="none" w="med" len="med"/>
                      <a:tailEnd type="none" w="med" len="med"/>
                    </a:lnL>
                    <a:lnR w="12700" cap="flat" cmpd="sng" algn="ctr">
                      <a:solidFill>
                        <a:srgbClr val="D5E3E5"/>
                      </a:solidFill>
                      <a:prstDash val="solid"/>
                      <a:round/>
                      <a:headEnd type="none" w="med" len="med"/>
                      <a:tailEnd type="none" w="med" len="med"/>
                    </a:lnR>
                    <a:lnT w="12700" cap="flat" cmpd="sng" algn="ctr">
                      <a:solidFill>
                        <a:srgbClr val="D5E3E5"/>
                      </a:solidFill>
                      <a:prstDash val="solid"/>
                      <a:round/>
                      <a:headEnd type="none" w="med" len="med"/>
                      <a:tailEnd type="none" w="med" len="med"/>
                    </a:lnT>
                    <a:lnB w="12700" cap="flat" cmpd="sng" algn="ctr">
                      <a:solidFill>
                        <a:srgbClr val="D5E3E5"/>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594360"/>
          </a:xfrm>
          <a:prstGeom prst="rect">
            <a:avLst/>
          </a:prstGeom>
          <a:noFill/>
          <a:ln/>
        </p:spPr>
        <p:txBody>
          <a:bodyPr wrap="square" lIns="0" tIns="0" rIns="0" bIns="0" rtlCol="0" anchor="t"/>
          <a:lstStyle/>
          <a:p>
            <a:pPr indent="0" marL="0">
              <a:buNone/>
            </a:pPr>
            <a:r>
              <a:rPr lang="en-US" sz="2800" b="1" dirty="0">
                <a:solidFill>
                  <a:srgbClr val="0F2A33"/>
                </a:solidFill>
                <a:latin typeface="Cambria" pitchFamily="34" charset="0"/>
                <a:ea typeface="Cambria" pitchFamily="34" charset="-122"/>
                <a:cs typeface="Cambria" pitchFamily="34" charset="-120"/>
              </a:rPr>
              <a:t>Limitations and next steps</a:t>
            </a:r>
            <a:endParaRPr lang="en-US" sz="2800" dirty="0"/>
          </a:p>
        </p:txBody>
      </p:sp>
      <p:sp>
        <p:nvSpPr>
          <p:cNvPr id="3" name="Shape 1"/>
          <p:cNvSpPr/>
          <p:nvPr/>
        </p:nvSpPr>
        <p:spPr>
          <a:xfrm>
            <a:off x="548640" y="1280160"/>
            <a:ext cx="5532120" cy="4937760"/>
          </a:xfrm>
          <a:prstGeom prst="roundRect">
            <a:avLst>
              <a:gd name="adj" fmla="val 1481"/>
            </a:avLst>
          </a:prstGeom>
          <a:solidFill>
            <a:srgbClr val="E6F1F2"/>
          </a:solidFill>
          <a:ln w="12700">
            <a:solidFill>
              <a:srgbClr val="E6F1F2"/>
            </a:solidFill>
            <a:prstDash val="solid"/>
          </a:ln>
        </p:spPr>
      </p:sp>
      <p:sp>
        <p:nvSpPr>
          <p:cNvPr id="4" name="Text 2"/>
          <p:cNvSpPr txBox="1"/>
          <p:nvPr/>
        </p:nvSpPr>
        <p:spPr>
          <a:xfrm>
            <a:off x="804672" y="1463040"/>
            <a:ext cx="5029200" cy="4617720"/>
          </a:xfrm>
          <a:prstGeom prst="rect">
            <a:avLst/>
          </a:prstGeom>
          <a:noFill/>
          <a:ln/>
        </p:spPr>
        <p:txBody>
          <a:bodyPr wrap="square" lIns="0" tIns="0" rIns="0" bIns="0" rtlCol="0" anchor="t"/>
          <a:lstStyle/>
          <a:p>
            <a:pPr indent="0" marL="0">
              <a:spcAft>
                <a:spcPts val="400"/>
              </a:spcAft>
              <a:buNone/>
            </a:pPr>
            <a:r>
              <a:rPr lang="en-US" sz="1700" b="1" dirty="0">
                <a:solidFill>
                  <a:srgbClr val="1B6F7A"/>
                </a:solidFill>
                <a:latin typeface="Cambria" pitchFamily="34" charset="0"/>
                <a:ea typeface="Cambria" pitchFamily="34" charset="-122"/>
                <a:cs typeface="Cambria" pitchFamily="34" charset="-120"/>
              </a:rPr>
              <a:t>Limitations</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FBIL does not publish its spline set-up or smoothing step; we match its behaviour, not its algorithm</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Two parameters are tuned to FBIL's curve, and only one date (11 Sep) is held out</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The smoothed fit is less accurate than the exact fit up to 10 years (1.75 vs 0.59 bp on 11 Sep)</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Five dates over six weeks with no change in the policy rate</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7 of 26 inputs on 11 Sep are FBIL proxy yields, not trades</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Stripping an SDL applies the RBI guidelines by analogy</a:t>
            </a:r>
            <a:endParaRPr lang="en-US" sz="1500" dirty="0"/>
          </a:p>
        </p:txBody>
      </p:sp>
      <p:sp>
        <p:nvSpPr>
          <p:cNvPr id="5" name="Shape 3"/>
          <p:cNvSpPr/>
          <p:nvPr/>
        </p:nvSpPr>
        <p:spPr>
          <a:xfrm>
            <a:off x="6355080" y="1280160"/>
            <a:ext cx="5287975" cy="4937760"/>
          </a:xfrm>
          <a:prstGeom prst="roundRect">
            <a:avLst>
              <a:gd name="adj" fmla="val 1481"/>
            </a:avLst>
          </a:prstGeom>
          <a:solidFill>
            <a:srgbClr val="F6FAFA"/>
          </a:solidFill>
          <a:ln w="12700">
            <a:solidFill>
              <a:srgbClr val="F6FAFA"/>
            </a:solidFill>
            <a:prstDash val="solid"/>
          </a:ln>
        </p:spPr>
      </p:sp>
      <p:sp>
        <p:nvSpPr>
          <p:cNvPr id="6" name="Text 4"/>
          <p:cNvSpPr txBox="1"/>
          <p:nvPr/>
        </p:nvSpPr>
        <p:spPr>
          <a:xfrm>
            <a:off x="6583680" y="1463040"/>
            <a:ext cx="4830775" cy="4617720"/>
          </a:xfrm>
          <a:prstGeom prst="rect">
            <a:avLst/>
          </a:prstGeom>
          <a:noFill/>
          <a:ln/>
        </p:spPr>
        <p:txBody>
          <a:bodyPr wrap="square" lIns="0" tIns="0" rIns="0" bIns="0" rtlCol="0" anchor="t"/>
          <a:lstStyle/>
          <a:p>
            <a:pPr indent="0" marL="0">
              <a:spcAft>
                <a:spcPts val="400"/>
              </a:spcAft>
              <a:buNone/>
            </a:pPr>
            <a:r>
              <a:rPr lang="en-US" sz="1700" b="1" dirty="0">
                <a:solidFill>
                  <a:srgbClr val="1B6F7A"/>
                </a:solidFill>
                <a:latin typeface="Cambria" pitchFamily="34" charset="0"/>
                <a:ea typeface="Cambria" pitchFamily="34" charset="-122"/>
                <a:cs typeface="Cambria" pitchFamily="34" charset="-120"/>
              </a:rPr>
              <a:t>Next steps</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Choose λ and the slope by the leave-one-out test instead of FBIL's curve, removing the calibration</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A lower curvature penalty below 5 years to close the 1–3 year gap</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More dates, including a policy-rate change</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Trade-level NDS-OM data to reproduce FBIL's input selection</a:t>
            </a:r>
            <a:endParaRPr lang="en-US" sz="1500" dirty="0"/>
          </a:p>
          <a:p>
            <a:pPr indent="0" marL="0">
              <a:spcBef>
                <a:spcPts val="800"/>
              </a:spcBef>
              <a:spcAft>
                <a:spcPts val="400"/>
              </a:spcAft>
              <a:buNone/>
            </a:pPr>
            <a:r>
              <a:rPr lang="en-US" sz="1700" b="1" dirty="0">
                <a:solidFill>
                  <a:srgbClr val="1B6F7A"/>
                </a:solidFill>
                <a:latin typeface="Cambria" pitchFamily="34" charset="0"/>
                <a:ea typeface="Cambria" pitchFamily="34" charset="-122"/>
                <a:cs typeface="Cambria" pitchFamily="34" charset="-120"/>
              </a:rPr>
              <a:t>Application</a:t>
            </a:r>
            <a:endParaRPr lang="en-US" sz="1500" dirty="0"/>
          </a:p>
          <a:p>
            <a:pPr marL="177800" indent="-177800">
              <a:spcAft>
                <a:spcPts val="500"/>
              </a:spcAft>
              <a:buSzPct val="100000"/>
              <a:buChar char="•"/>
            </a:pPr>
            <a:r>
              <a:rPr lang="en-US" sz="1500" dirty="0">
                <a:solidFill>
                  <a:srgbClr val="0F2A33"/>
                </a:solidFill>
                <a:latin typeface="Calibri" pitchFamily="34" charset="0"/>
                <a:ea typeface="Calibri" pitchFamily="34" charset="-122"/>
                <a:cs typeface="Calibri" pitchFamily="34" charset="-120"/>
              </a:rPr>
              <a:t>streamlit run streamlit_app.py opens the interactive app (previous slide), which accepts FBIL data for any date. python app.py reruns the whole project; python app.py --date &lt;date&gt; --sdl &lt;ISIN&gt; runs one stored date end to end and writes an HTML report</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Summary</a:t>
            </a:r>
            <a:endParaRPr lang="en-US" sz="3200" dirty="0"/>
          </a:p>
        </p:txBody>
      </p:sp>
      <p:sp>
        <p:nvSpPr>
          <p:cNvPr id="3" name="Shape 1"/>
          <p:cNvSpPr/>
          <p:nvPr/>
        </p:nvSpPr>
        <p:spPr>
          <a:xfrm>
            <a:off x="548640" y="1325880"/>
            <a:ext cx="7589520" cy="1024128"/>
          </a:xfrm>
          <a:prstGeom prst="roundRect">
            <a:avLst>
              <a:gd name="adj" fmla="val 7143"/>
            </a:avLst>
          </a:prstGeom>
          <a:solidFill>
            <a:srgbClr val="173B46"/>
          </a:solidFill>
          <a:ln w="12700">
            <a:solidFill>
              <a:srgbClr val="173B46"/>
            </a:solidFill>
            <a:prstDash val="solid"/>
          </a:ln>
        </p:spPr>
      </p:sp>
      <p:sp>
        <p:nvSpPr>
          <p:cNvPr id="4" name="Shape 2"/>
          <p:cNvSpPr/>
          <p:nvPr/>
        </p:nvSpPr>
        <p:spPr>
          <a:xfrm>
            <a:off x="749808" y="1600200"/>
            <a:ext cx="457200" cy="457200"/>
          </a:xfrm>
          <a:prstGeom prst="ellipse">
            <a:avLst/>
          </a:prstGeom>
          <a:solidFill>
            <a:srgbClr val="E8A33D"/>
          </a:solidFill>
          <a:ln w="12700">
            <a:solidFill>
              <a:srgbClr val="E8A33D"/>
            </a:solidFill>
            <a:prstDash val="solid"/>
          </a:ln>
        </p:spPr>
      </p:sp>
      <p:sp>
        <p:nvSpPr>
          <p:cNvPr id="5" name="Text 3"/>
          <p:cNvSpPr txBox="1"/>
          <p:nvPr/>
        </p:nvSpPr>
        <p:spPr>
          <a:xfrm>
            <a:off x="749808" y="1600200"/>
            <a:ext cx="457200" cy="457200"/>
          </a:xfrm>
          <a:prstGeom prst="rect">
            <a:avLst/>
          </a:prstGeom>
          <a:noFill/>
          <a:ln/>
        </p:spPr>
        <p:txBody>
          <a:bodyPr wrap="square" lIns="0" tIns="0" rIns="0" bIns="0" rtlCol="0" anchor="ctr"/>
          <a:lstStyle/>
          <a:p>
            <a:pPr algn="ctr" indent="0" marL="0">
              <a:buNone/>
            </a:pPr>
            <a:r>
              <a:rPr lang="en-US" sz="1700" b="1" dirty="0">
                <a:solidFill>
                  <a:srgbClr val="0F2A33"/>
                </a:solidFill>
                <a:latin typeface="Cambria" pitchFamily="34" charset="0"/>
                <a:ea typeface="Cambria" pitchFamily="34" charset="-122"/>
                <a:cs typeface="Cambria" pitchFamily="34" charset="-120"/>
              </a:rPr>
              <a:t>1</a:t>
            </a:r>
            <a:endParaRPr lang="en-US" sz="1700" dirty="0"/>
          </a:p>
        </p:txBody>
      </p:sp>
      <p:sp>
        <p:nvSpPr>
          <p:cNvPr id="6" name="Text 4"/>
          <p:cNvSpPr txBox="1"/>
          <p:nvPr/>
        </p:nvSpPr>
        <p:spPr>
          <a:xfrm>
            <a:off x="1417320" y="1453896"/>
            <a:ext cx="182880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Data</a:t>
            </a:r>
            <a:endParaRPr lang="en-US" sz="1500" dirty="0"/>
          </a:p>
        </p:txBody>
      </p:sp>
      <p:sp>
        <p:nvSpPr>
          <p:cNvPr id="7" name="Text 5"/>
          <p:cNvSpPr txBox="1"/>
          <p:nvPr/>
        </p:nvSpPr>
        <p:spPr>
          <a:xfrm>
            <a:off x="1417320" y="1746504"/>
            <a:ext cx="6537960" cy="585216"/>
          </a:xfrm>
          <a:prstGeom prst="rect">
            <a:avLst/>
          </a:prstGeom>
          <a:noFill/>
          <a:ln/>
        </p:spPr>
        <p:txBody>
          <a:bodyPr wrap="square" lIns="0" tIns="0" rIns="0" bIns="0" rtlCol="0" anchor="t"/>
          <a:lstStyle/>
          <a:p>
            <a:pPr indent="0" marL="0">
              <a:buNone/>
            </a:pPr>
            <a:r>
              <a:rPr lang="en-US" sz="1250" dirty="0">
                <a:solidFill>
                  <a:srgbClr val="BFDDE1"/>
                </a:solidFill>
                <a:latin typeface="Calibri" pitchFamily="34" charset="0"/>
                <a:ea typeface="Calibri" pitchFamily="34" charset="-122"/>
                <a:cs typeface="Calibri" pitchFamily="34" charset="-120"/>
              </a:rPr>
              <a:t>FBIL files for five dates; settlement, day count, T-bill treatment and par formula each checked against FBIL's own output</a:t>
            </a:r>
            <a:endParaRPr lang="en-US" sz="1250" dirty="0"/>
          </a:p>
        </p:txBody>
      </p:sp>
      <p:sp>
        <p:nvSpPr>
          <p:cNvPr id="8" name="Shape 6"/>
          <p:cNvSpPr/>
          <p:nvPr/>
        </p:nvSpPr>
        <p:spPr>
          <a:xfrm>
            <a:off x="548640" y="2514600"/>
            <a:ext cx="7589520" cy="1024128"/>
          </a:xfrm>
          <a:prstGeom prst="roundRect">
            <a:avLst>
              <a:gd name="adj" fmla="val 7143"/>
            </a:avLst>
          </a:prstGeom>
          <a:solidFill>
            <a:srgbClr val="173B46"/>
          </a:solidFill>
          <a:ln w="12700">
            <a:solidFill>
              <a:srgbClr val="173B46"/>
            </a:solidFill>
            <a:prstDash val="solid"/>
          </a:ln>
        </p:spPr>
      </p:sp>
      <p:sp>
        <p:nvSpPr>
          <p:cNvPr id="9" name="Shape 7"/>
          <p:cNvSpPr/>
          <p:nvPr/>
        </p:nvSpPr>
        <p:spPr>
          <a:xfrm>
            <a:off x="749808" y="2788920"/>
            <a:ext cx="457200" cy="457200"/>
          </a:xfrm>
          <a:prstGeom prst="ellipse">
            <a:avLst/>
          </a:prstGeom>
          <a:solidFill>
            <a:srgbClr val="E8A33D"/>
          </a:solidFill>
          <a:ln w="12700">
            <a:solidFill>
              <a:srgbClr val="E8A33D"/>
            </a:solidFill>
            <a:prstDash val="solid"/>
          </a:ln>
        </p:spPr>
      </p:sp>
      <p:sp>
        <p:nvSpPr>
          <p:cNvPr id="10" name="Text 8"/>
          <p:cNvSpPr txBox="1"/>
          <p:nvPr/>
        </p:nvSpPr>
        <p:spPr>
          <a:xfrm>
            <a:off x="749808" y="2788920"/>
            <a:ext cx="457200" cy="457200"/>
          </a:xfrm>
          <a:prstGeom prst="rect">
            <a:avLst/>
          </a:prstGeom>
          <a:noFill/>
          <a:ln/>
        </p:spPr>
        <p:txBody>
          <a:bodyPr wrap="square" lIns="0" tIns="0" rIns="0" bIns="0" rtlCol="0" anchor="ctr"/>
          <a:lstStyle/>
          <a:p>
            <a:pPr algn="ctr" indent="0" marL="0">
              <a:buNone/>
            </a:pPr>
            <a:r>
              <a:rPr lang="en-US" sz="1700" b="1" dirty="0">
                <a:solidFill>
                  <a:srgbClr val="0F2A33"/>
                </a:solidFill>
                <a:latin typeface="Cambria" pitchFamily="34" charset="0"/>
                <a:ea typeface="Cambria" pitchFamily="34" charset="-122"/>
                <a:cs typeface="Cambria" pitchFamily="34" charset="-120"/>
              </a:rPr>
              <a:t>2</a:t>
            </a:r>
            <a:endParaRPr lang="en-US" sz="1700" dirty="0"/>
          </a:p>
        </p:txBody>
      </p:sp>
      <p:sp>
        <p:nvSpPr>
          <p:cNvPr id="11" name="Text 9"/>
          <p:cNvSpPr txBox="1"/>
          <p:nvPr/>
        </p:nvSpPr>
        <p:spPr>
          <a:xfrm>
            <a:off x="1417320" y="2642616"/>
            <a:ext cx="182880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Exact fit</a:t>
            </a:r>
            <a:endParaRPr lang="en-US" sz="1500" dirty="0"/>
          </a:p>
        </p:txBody>
      </p:sp>
      <p:sp>
        <p:nvSpPr>
          <p:cNvPr id="12" name="Text 10"/>
          <p:cNvSpPr txBox="1"/>
          <p:nvPr/>
        </p:nvSpPr>
        <p:spPr>
          <a:xfrm>
            <a:off x="1417320" y="2935224"/>
            <a:ext cx="6537960" cy="585216"/>
          </a:xfrm>
          <a:prstGeom prst="rect">
            <a:avLst/>
          </a:prstGeom>
          <a:noFill/>
          <a:ln/>
        </p:spPr>
        <p:txBody>
          <a:bodyPr wrap="square" lIns="0" tIns="0" rIns="0" bIns="0" rtlCol="0" anchor="t"/>
          <a:lstStyle/>
          <a:p>
            <a:pPr indent="0" marL="0">
              <a:buNone/>
            </a:pPr>
            <a:r>
              <a:rPr lang="en-US" sz="1250" dirty="0">
                <a:solidFill>
                  <a:srgbClr val="BFDDE1"/>
                </a:solidFill>
                <a:latin typeface="Calibri" pitchFamily="34" charset="0"/>
                <a:ea typeface="Calibri" pitchFamily="34" charset="-122"/>
                <a:cs typeface="Calibri" pitchFamily="34" charset="-120"/>
              </a:rPr>
              <a:t>Cubic-spline bootstrap through every input, twice differentiable. On 11 Sep: 1.21 bp from FBIL up to 14 years, 8.39 bp beyond, with overshoots in the long gaps</a:t>
            </a:r>
            <a:endParaRPr lang="en-US" sz="1250" dirty="0"/>
          </a:p>
        </p:txBody>
      </p:sp>
      <p:sp>
        <p:nvSpPr>
          <p:cNvPr id="13" name="Shape 11"/>
          <p:cNvSpPr/>
          <p:nvPr/>
        </p:nvSpPr>
        <p:spPr>
          <a:xfrm>
            <a:off x="548640" y="3703320"/>
            <a:ext cx="7589520" cy="1024128"/>
          </a:xfrm>
          <a:prstGeom prst="roundRect">
            <a:avLst>
              <a:gd name="adj" fmla="val 7143"/>
            </a:avLst>
          </a:prstGeom>
          <a:solidFill>
            <a:srgbClr val="173B46"/>
          </a:solidFill>
          <a:ln w="12700">
            <a:solidFill>
              <a:srgbClr val="173B46"/>
            </a:solidFill>
            <a:prstDash val="solid"/>
          </a:ln>
        </p:spPr>
      </p:sp>
      <p:sp>
        <p:nvSpPr>
          <p:cNvPr id="14" name="Shape 12"/>
          <p:cNvSpPr/>
          <p:nvPr/>
        </p:nvSpPr>
        <p:spPr>
          <a:xfrm>
            <a:off x="749808" y="3977640"/>
            <a:ext cx="457200" cy="457200"/>
          </a:xfrm>
          <a:prstGeom prst="ellipse">
            <a:avLst/>
          </a:prstGeom>
          <a:solidFill>
            <a:srgbClr val="E8A33D"/>
          </a:solidFill>
          <a:ln w="12700">
            <a:solidFill>
              <a:srgbClr val="E8A33D"/>
            </a:solidFill>
            <a:prstDash val="solid"/>
          </a:ln>
        </p:spPr>
      </p:sp>
      <p:sp>
        <p:nvSpPr>
          <p:cNvPr id="15" name="Text 13"/>
          <p:cNvSpPr txBox="1"/>
          <p:nvPr/>
        </p:nvSpPr>
        <p:spPr>
          <a:xfrm>
            <a:off x="749808" y="3977640"/>
            <a:ext cx="457200" cy="457200"/>
          </a:xfrm>
          <a:prstGeom prst="rect">
            <a:avLst/>
          </a:prstGeom>
          <a:noFill/>
          <a:ln/>
        </p:spPr>
        <p:txBody>
          <a:bodyPr wrap="square" lIns="0" tIns="0" rIns="0" bIns="0" rtlCol="0" anchor="ctr"/>
          <a:lstStyle/>
          <a:p>
            <a:pPr algn="ctr" indent="0" marL="0">
              <a:buNone/>
            </a:pPr>
            <a:r>
              <a:rPr lang="en-US" sz="1700" b="1" dirty="0">
                <a:solidFill>
                  <a:srgbClr val="0F2A33"/>
                </a:solidFill>
                <a:latin typeface="Cambria" pitchFamily="34" charset="0"/>
                <a:ea typeface="Cambria" pitchFamily="34" charset="-122"/>
                <a:cs typeface="Cambria" pitchFamily="34" charset="-120"/>
              </a:rPr>
              <a:t>3</a:t>
            </a:r>
            <a:endParaRPr lang="en-US" sz="1700" dirty="0"/>
          </a:p>
        </p:txBody>
      </p:sp>
      <p:sp>
        <p:nvSpPr>
          <p:cNvPr id="16" name="Text 14"/>
          <p:cNvSpPr txBox="1"/>
          <p:nvPr/>
        </p:nvSpPr>
        <p:spPr>
          <a:xfrm>
            <a:off x="1417320" y="3831336"/>
            <a:ext cx="182880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Smoothed fit</a:t>
            </a:r>
            <a:endParaRPr lang="en-US" sz="1500" dirty="0"/>
          </a:p>
        </p:txBody>
      </p:sp>
      <p:sp>
        <p:nvSpPr>
          <p:cNvPr id="17" name="Text 15"/>
          <p:cNvSpPr txBox="1"/>
          <p:nvPr/>
        </p:nvSpPr>
        <p:spPr>
          <a:xfrm>
            <a:off x="1417320" y="4123944"/>
            <a:ext cx="6537960" cy="585216"/>
          </a:xfrm>
          <a:prstGeom prst="rect">
            <a:avLst/>
          </a:prstGeom>
          <a:noFill/>
          <a:ln/>
        </p:spPr>
        <p:txBody>
          <a:bodyPr wrap="square" lIns="0" tIns="0" rIns="0" bIns="0" rtlCol="0" anchor="t"/>
          <a:lstStyle/>
          <a:p>
            <a:pPr indent="0" marL="0">
              <a:buNone/>
            </a:pPr>
            <a:r>
              <a:rPr lang="en-US" sz="1250" dirty="0">
                <a:solidFill>
                  <a:srgbClr val="BFDDE1"/>
                </a:solidFill>
                <a:latin typeface="Calibri" pitchFamily="34" charset="0"/>
                <a:ea typeface="Calibri" pitchFamily="34" charset="-122"/>
                <a:cs typeface="Calibri" pitchFamily="34" charset="-120"/>
              </a:rPr>
              <a:t>Same inputs with a curvature penalty (submitted). On 11 Sep: 2.01 bp up to 14 years, 1.65 bp beyond, 1.75 bp overall. Wins the leave-one-out test (2.45 vs 3.90 bp)</a:t>
            </a:r>
            <a:endParaRPr lang="en-US" sz="1250" dirty="0"/>
          </a:p>
        </p:txBody>
      </p:sp>
      <p:sp>
        <p:nvSpPr>
          <p:cNvPr id="18" name="Shape 16"/>
          <p:cNvSpPr/>
          <p:nvPr/>
        </p:nvSpPr>
        <p:spPr>
          <a:xfrm>
            <a:off x="548640" y="4892040"/>
            <a:ext cx="7589520" cy="1024128"/>
          </a:xfrm>
          <a:prstGeom prst="roundRect">
            <a:avLst>
              <a:gd name="adj" fmla="val 7143"/>
            </a:avLst>
          </a:prstGeom>
          <a:solidFill>
            <a:srgbClr val="173B46"/>
          </a:solidFill>
          <a:ln w="12700">
            <a:solidFill>
              <a:srgbClr val="173B46"/>
            </a:solidFill>
            <a:prstDash val="solid"/>
          </a:ln>
        </p:spPr>
      </p:sp>
      <p:sp>
        <p:nvSpPr>
          <p:cNvPr id="19" name="Shape 17"/>
          <p:cNvSpPr/>
          <p:nvPr/>
        </p:nvSpPr>
        <p:spPr>
          <a:xfrm>
            <a:off x="749808" y="5166360"/>
            <a:ext cx="457200" cy="457200"/>
          </a:xfrm>
          <a:prstGeom prst="ellipse">
            <a:avLst/>
          </a:prstGeom>
          <a:solidFill>
            <a:srgbClr val="E8A33D"/>
          </a:solidFill>
          <a:ln w="12700">
            <a:solidFill>
              <a:srgbClr val="E8A33D"/>
            </a:solidFill>
            <a:prstDash val="solid"/>
          </a:ln>
        </p:spPr>
      </p:sp>
      <p:sp>
        <p:nvSpPr>
          <p:cNvPr id="20" name="Text 18"/>
          <p:cNvSpPr txBox="1"/>
          <p:nvPr/>
        </p:nvSpPr>
        <p:spPr>
          <a:xfrm>
            <a:off x="749808" y="5166360"/>
            <a:ext cx="457200" cy="457200"/>
          </a:xfrm>
          <a:prstGeom prst="rect">
            <a:avLst/>
          </a:prstGeom>
          <a:noFill/>
          <a:ln/>
        </p:spPr>
        <p:txBody>
          <a:bodyPr wrap="square" lIns="0" tIns="0" rIns="0" bIns="0" rtlCol="0" anchor="ctr"/>
          <a:lstStyle/>
          <a:p>
            <a:pPr algn="ctr" indent="0" marL="0">
              <a:buNone/>
            </a:pPr>
            <a:r>
              <a:rPr lang="en-US" sz="1700" b="1" dirty="0">
                <a:solidFill>
                  <a:srgbClr val="0F2A33"/>
                </a:solidFill>
                <a:latin typeface="Cambria" pitchFamily="34" charset="0"/>
                <a:ea typeface="Cambria" pitchFamily="34" charset="-122"/>
                <a:cs typeface="Cambria" pitchFamily="34" charset="-120"/>
              </a:rPr>
              <a:t>4</a:t>
            </a:r>
            <a:endParaRPr lang="en-US" sz="1700" dirty="0"/>
          </a:p>
        </p:txBody>
      </p:sp>
      <p:sp>
        <p:nvSpPr>
          <p:cNvPr id="21" name="Text 19"/>
          <p:cNvSpPr txBox="1"/>
          <p:nvPr/>
        </p:nvSpPr>
        <p:spPr>
          <a:xfrm>
            <a:off x="1417320" y="5020056"/>
            <a:ext cx="1828800"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STRIPS</a:t>
            </a:r>
            <a:endParaRPr lang="en-US" sz="1500" dirty="0"/>
          </a:p>
        </p:txBody>
      </p:sp>
      <p:sp>
        <p:nvSpPr>
          <p:cNvPr id="22" name="Text 20"/>
          <p:cNvSpPr txBox="1"/>
          <p:nvPr/>
        </p:nvSpPr>
        <p:spPr>
          <a:xfrm>
            <a:off x="1417320" y="5312664"/>
            <a:ext cx="6537960" cy="585216"/>
          </a:xfrm>
          <a:prstGeom prst="rect">
            <a:avLst/>
          </a:prstGeom>
          <a:noFill/>
          <a:ln/>
        </p:spPr>
        <p:txBody>
          <a:bodyPr wrap="square" lIns="0" tIns="0" rIns="0" bIns="0" rtlCol="0" anchor="t"/>
          <a:lstStyle/>
          <a:p>
            <a:pPr indent="0" marL="0">
              <a:buNone/>
            </a:pPr>
            <a:r>
              <a:rPr lang="en-US" sz="1250" dirty="0">
                <a:solidFill>
                  <a:srgbClr val="BFDDE1"/>
                </a:solidFill>
                <a:latin typeface="Calibri" pitchFamily="34" charset="0"/>
                <a:ea typeface="Calibri" pitchFamily="34" charset="-122"/>
                <a:cs typeface="Calibri" pitchFamily="34" charset="-120"/>
              </a:rPr>
              <a:t>65 STRIPS of 07.13 KL SGS 2058, factor 0.97963; method checked on Annex 4 and FBIL's published STRIPS</a:t>
            </a:r>
            <a:endParaRPr lang="en-US" sz="1250" dirty="0"/>
          </a:p>
        </p:txBody>
      </p:sp>
      <p:sp>
        <p:nvSpPr>
          <p:cNvPr id="23" name="Shape 21"/>
          <p:cNvSpPr/>
          <p:nvPr/>
        </p:nvSpPr>
        <p:spPr>
          <a:xfrm>
            <a:off x="8412480" y="1325880"/>
            <a:ext cx="3230575" cy="4590288"/>
          </a:xfrm>
          <a:prstGeom prst="roundRect">
            <a:avLst>
              <a:gd name="adj" fmla="val 2264"/>
            </a:avLst>
          </a:prstGeom>
          <a:solidFill>
            <a:srgbClr val="173B46"/>
          </a:solidFill>
          <a:ln w="12700">
            <a:solidFill>
              <a:srgbClr val="173B46"/>
            </a:solidFill>
            <a:prstDash val="solid"/>
          </a:ln>
        </p:spPr>
      </p:sp>
      <p:sp>
        <p:nvSpPr>
          <p:cNvPr id="24" name="Text 22"/>
          <p:cNvSpPr txBox="1"/>
          <p:nvPr/>
        </p:nvSpPr>
        <p:spPr>
          <a:xfrm>
            <a:off x="8641080" y="1508760"/>
            <a:ext cx="27432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Reproduce</a:t>
            </a:r>
            <a:endParaRPr lang="en-US" sz="1600" dirty="0"/>
          </a:p>
        </p:txBody>
      </p:sp>
      <p:sp>
        <p:nvSpPr>
          <p:cNvPr id="25" name="Text 23"/>
          <p:cNvSpPr txBox="1"/>
          <p:nvPr/>
        </p:nvSpPr>
        <p:spPr>
          <a:xfrm>
            <a:off x="8641080" y="1965960"/>
            <a:ext cx="3017520" cy="1554480"/>
          </a:xfrm>
          <a:prstGeom prst="rect">
            <a:avLst/>
          </a:prstGeom>
          <a:noFill/>
          <a:ln/>
        </p:spPr>
        <p:txBody>
          <a:bodyPr wrap="square" lIns="0" tIns="0" rIns="0" bIns="0" rtlCol="0" anchor="ctr"/>
          <a:lstStyle/>
          <a:p>
            <a:pPr indent="0" marL="0">
              <a:buNone/>
            </a:pPr>
            <a:r>
              <a:rPr lang="en-US" sz="1150" dirty="0">
                <a:solidFill>
                  <a:srgbClr val="9FC3C9"/>
                </a:solidFill>
                <a:latin typeface="Consolas" pitchFamily="34" charset="0"/>
                <a:ea typeface="Consolas" pitchFamily="34" charset="-122"/>
                <a:cs typeface="Consolas" pitchFamily="34" charset="-120"/>
              </a:rPr>
              <a:t>cd code</a:t>
            </a:r>
            <a:endParaRPr lang="en-US" sz="1150" dirty="0"/>
          </a:p>
          <a:p>
            <a:pPr indent="0" marL="0">
              <a:buNone/>
            </a:pPr>
            <a:r>
              <a:rPr lang="en-US" sz="1150" dirty="0">
                <a:solidFill>
                  <a:srgbClr val="9FC3C9"/>
                </a:solidFill>
                <a:latin typeface="Consolas" pitchFamily="34" charset="0"/>
                <a:ea typeface="Consolas" pitchFamily="34" charset="-122"/>
                <a:cs typeface="Consolas" pitchFamily="34" charset="-120"/>
              </a:rPr>
              <a:t>python app.py</a:t>
            </a:r>
            <a:endParaRPr lang="en-US" sz="1150" dirty="0"/>
          </a:p>
          <a:p>
            <a:pPr indent="0" marL="0">
              <a:buNone/>
            </a:pPr>
            <a:endParaRPr lang="en-US" sz="1150" dirty="0"/>
          </a:p>
          <a:p>
            <a:pPr indent="0" marL="0">
              <a:buNone/>
            </a:pPr>
            <a:r>
              <a:rPr lang="en-US" sz="1150" dirty="0">
                <a:solidFill>
                  <a:srgbClr val="9FC3C9"/>
                </a:solidFill>
                <a:latin typeface="Consolas" pitchFamily="34" charset="0"/>
                <a:ea typeface="Consolas" pitchFamily="34" charset="-122"/>
                <a:cs typeface="Consolas" pitchFamily="34" charset="-120"/>
              </a:rPr>
              <a:t>python app.py --date 2026-09-11 \</a:t>
            </a:r>
            <a:endParaRPr lang="en-US" sz="1150" dirty="0"/>
          </a:p>
          <a:p>
            <a:pPr indent="0" marL="0">
              <a:buNone/>
            </a:pPr>
            <a:r>
              <a:rPr lang="en-US" sz="1150" dirty="0">
                <a:solidFill>
                  <a:srgbClr val="9FC3C9"/>
                </a:solidFill>
                <a:latin typeface="Consolas" pitchFamily="34" charset="0"/>
                <a:ea typeface="Consolas" pitchFamily="34" charset="-122"/>
                <a:cs typeface="Consolas" pitchFamily="34" charset="-120"/>
              </a:rPr>
              <a:t>  --sdl IN2020250089</a:t>
            </a:r>
            <a:endParaRPr lang="en-US" sz="1150" dirty="0"/>
          </a:p>
        </p:txBody>
      </p:sp>
      <p:sp>
        <p:nvSpPr>
          <p:cNvPr id="26" name="Text 24"/>
          <p:cNvSpPr txBox="1"/>
          <p:nvPr/>
        </p:nvSpPr>
        <p:spPr>
          <a:xfrm>
            <a:off x="8641080" y="3703320"/>
            <a:ext cx="3017520" cy="2011680"/>
          </a:xfrm>
          <a:prstGeom prst="rect">
            <a:avLst/>
          </a:prstGeom>
          <a:noFill/>
          <a:ln/>
        </p:spPr>
        <p:txBody>
          <a:bodyPr wrap="square" lIns="0" tIns="0" rIns="0" bIns="0" rtlCol="0" anchor="t"/>
          <a:lstStyle/>
          <a:p>
            <a:pPr indent="0" marL="0">
              <a:buNone/>
            </a:pPr>
            <a:r>
              <a:rPr lang="en-US" sz="1300" dirty="0">
                <a:solidFill>
                  <a:srgbClr val="BFDDE1"/>
                </a:solidFill>
                <a:latin typeface="Calibri" pitchFamily="34" charset="0"/>
                <a:ea typeface="Calibri" pitchFamily="34" charset="-122"/>
                <a:cs typeface="Calibri" pitchFamily="34" charset="-120"/>
              </a:rPr>
              <a:t>The first command regenerates every table and chart in this deck from the FBIL input files. The second runs one date end to end and writes an HTML report.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Coupon Yield Curve for Indian G-Secs</dc:title>
  <dc:subject>PptxGenJS Presentation</dc:subject>
  <dc:creator>PptxGenJS</dc:creator>
  <cp:lastModifiedBy>PptxGenJS</cp:lastModifiedBy>
  <cp:revision>1</cp:revision>
  <dcterms:created xsi:type="dcterms:W3CDTF">2026-09-21T13:48:28Z</dcterms:created>
  <dcterms:modified xsi:type="dcterms:W3CDTF">2026-09-21T13:48:28Z</dcterms:modified>
</cp:coreProperties>
</file>